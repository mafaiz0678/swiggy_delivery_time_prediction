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72" r:id="rId3"/>
    <p:sldId id="276" r:id="rId4"/>
    <p:sldId id="260" r:id="rId5"/>
    <p:sldId id="274" r:id="rId6"/>
    <p:sldId id="277" r:id="rId7"/>
    <p:sldId id="270" r:id="rId8"/>
    <p:sldId id="278" r:id="rId9"/>
    <p:sldId id="279" r:id="rId10"/>
    <p:sldId id="266" r:id="rId11"/>
    <p:sldId id="280" r:id="rId12"/>
    <p:sldId id="281" r:id="rId13"/>
    <p:sldId id="257" r:id="rId14"/>
    <p:sldId id="283" r:id="rId15"/>
    <p:sldId id="282" r:id="rId16"/>
    <p:sldId id="284" r:id="rId17"/>
    <p:sldId id="275" r:id="rId18"/>
    <p:sldId id="259" r:id="rId19"/>
  </p:sldIdLst>
  <p:sldSz cx="12192000" cy="6858000"/>
  <p:notesSz cx="6858000" cy="9144000"/>
  <p:embeddedFontLst>
    <p:embeddedFont>
      <p:font typeface="Californian FB" panose="0207040306080B030204" pitchFamily="18" charset="0"/>
      <p:regular r:id="rId21"/>
      <p:bold r:id="rId22"/>
      <p:italic r:id="rId23"/>
    </p:embeddedFont>
    <p:embeddedFont>
      <p:font typeface="Libre Baskerville" panose="02000000000000000000" pitchFamily="2" charset="0"/>
      <p:regular r:id="rId24"/>
      <p:bold r:id="rId25"/>
      <p: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347405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721180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417683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132043ED-5E44-8C5A-BB61-4904D8085EA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C097A2FA-035D-BAD5-DE24-2FD3E9EF3F8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68633B08-1820-48A1-02AB-F5BF2DAED5D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05132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6E8CF290-38B5-AD23-5A03-A36DBD414DC0}"/>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053E358E-CA23-8147-281B-DEF7C5925F0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3E10A239-8C15-918F-D0DC-D04D08513DD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180034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44999A2-8626-BE7F-55C2-8821779EF25B}"/>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33058448-3303-55F9-52C4-47D7432C350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id="{10497A46-F337-F823-1B76-52C178A4D3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58517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823787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74000"/>
            <a:lum/>
          </a:blip>
          <a:srcRect/>
          <a:stretch>
            <a:fillRect/>
          </a:stretch>
        </a:blip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4239" y="-12280"/>
            <a:ext cx="12190815" cy="6870279"/>
          </a:xfrm>
          <a:prstGeom prst="rect">
            <a:avLst/>
          </a:prstGeom>
          <a:noFill/>
          <a:ln>
            <a:noFill/>
          </a:ln>
        </p:spPr>
      </p:pic>
      <p:sp>
        <p:nvSpPr>
          <p:cNvPr id="2" name="Rectangle 1"/>
          <p:cNvSpPr/>
          <p:nvPr/>
        </p:nvSpPr>
        <p:spPr>
          <a:xfrm>
            <a:off x="3016155" y="3667432"/>
            <a:ext cx="6414447" cy="116020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solidFill>
                  <a:srgbClr val="000000"/>
                </a:solidFill>
                <a:latin typeface="Times New Roman" panose="02020603050405020304" pitchFamily="18" charset="0"/>
                <a:cs typeface="Times New Roman" panose="02020603050405020304" pitchFamily="18" charset="0"/>
              </a:rPr>
              <a:t>Swiggy Delivery Time Prediction</a:t>
            </a:r>
          </a:p>
        </p:txBody>
      </p:sp>
      <p:sp>
        <p:nvSpPr>
          <p:cNvPr id="4" name="Text Placeholder 3"/>
          <p:cNvSpPr>
            <a:spLocks noGrp="1"/>
          </p:cNvSpPr>
          <p:nvPr>
            <p:ph type="body" idx="1"/>
          </p:nvPr>
        </p:nvSpPr>
        <p:spPr>
          <a:xfrm>
            <a:off x="6809428" y="5263518"/>
            <a:ext cx="5041378" cy="1500187"/>
          </a:xfrm>
        </p:spPr>
        <p:txBody>
          <a:bodyPr>
            <a:normAutofit/>
          </a:bodyPr>
          <a:lstStyle/>
          <a:p>
            <a:r>
              <a:rPr lang="en-US" sz="2000" b="1" dirty="0">
                <a:solidFill>
                  <a:srgbClr val="000000"/>
                </a:solidFill>
                <a:latin typeface="Times New Roman" panose="02020603050405020304" pitchFamily="18" charset="0"/>
                <a:cs typeface="Times New Roman" panose="02020603050405020304" pitchFamily="18" charset="0"/>
              </a:rPr>
              <a:t>Project by Mohd Mafaiz Uddin                                </a:t>
            </a:r>
          </a:p>
          <a:p>
            <a:r>
              <a:rPr lang="en-US" sz="2000" b="1" dirty="0">
                <a:solidFill>
                  <a:srgbClr val="000000"/>
                </a:solidFill>
                <a:latin typeface="Times New Roman" panose="02020603050405020304" pitchFamily="18" charset="0"/>
                <a:cs typeface="Times New Roman" panose="02020603050405020304" pitchFamily="18" charset="0"/>
              </a:rPr>
              <a:t>Batch No. 502</a:t>
            </a:r>
          </a:p>
          <a:p>
            <a:r>
              <a:rPr lang="en-US" sz="2000" b="1" dirty="0" err="1">
                <a:solidFill>
                  <a:srgbClr val="000000"/>
                </a:solidFill>
                <a:latin typeface="Times New Roman" panose="02020603050405020304" pitchFamily="18" charset="0"/>
                <a:cs typeface="Times New Roman" panose="02020603050405020304" pitchFamily="18" charset="0"/>
              </a:rPr>
              <a:t>Innomatics</a:t>
            </a:r>
            <a:r>
              <a:rPr lang="en-US" sz="2000" b="1" dirty="0">
                <a:solidFill>
                  <a:srgbClr val="000000"/>
                </a:solidFill>
                <a:latin typeface="Times New Roman" panose="02020603050405020304" pitchFamily="18" charset="0"/>
                <a:cs typeface="Times New Roman" panose="02020603050405020304" pitchFamily="18" charset="0"/>
              </a:rPr>
              <a:t> Research Labs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838200" y="133113"/>
            <a:ext cx="10515600" cy="658457"/>
          </a:xfrm>
        </p:spPr>
        <p:txBody>
          <a:bodyPr>
            <a:noAutofit/>
          </a:bodyPr>
          <a:lstStyle/>
          <a:p>
            <a:pPr algn="ctr"/>
            <a:r>
              <a:rPr lang="en-US" b="1" u="sng" dirty="0">
                <a:solidFill>
                  <a:srgbClr val="FF0000"/>
                </a:solidFill>
                <a:latin typeface="Times New Roman" panose="02020603050405020304" pitchFamily="18" charset="0"/>
                <a:cs typeface="Times New Roman" panose="02020603050405020304" pitchFamily="18" charset="0"/>
              </a:rPr>
              <a:t>Agenda</a:t>
            </a:r>
          </a:p>
        </p:txBody>
      </p:sp>
      <p:sp>
        <p:nvSpPr>
          <p:cNvPr id="2" name="Text Placeholder 1"/>
          <p:cNvSpPr>
            <a:spLocks noGrp="1"/>
          </p:cNvSpPr>
          <p:nvPr>
            <p:ph type="body" idx="1"/>
          </p:nvPr>
        </p:nvSpPr>
        <p:spPr>
          <a:xfrm>
            <a:off x="114300" y="1183456"/>
            <a:ext cx="11963400" cy="5385393"/>
          </a:xfrm>
        </p:spPr>
        <p:txBody>
          <a:bodyPr>
            <a:normAutofit fontScale="77500" lnSpcReduction="20000"/>
          </a:bodyPr>
          <a:lstStyle/>
          <a:p>
            <a:endParaRPr lang="en-US" dirty="0">
              <a:latin typeface="Californian FB" panose="0207040306080B030204" pitchFamily="18" charset="0"/>
            </a:endParaRPr>
          </a:p>
          <a:p>
            <a:endParaRPr lang="en-US" dirty="0">
              <a:latin typeface="Californian FB" panose="0207040306080B030204" pitchFamily="18" charset="0"/>
            </a:endParaRPr>
          </a:p>
          <a:p>
            <a:r>
              <a:rPr lang="en-US" dirty="0">
                <a:solidFill>
                  <a:srgbClr val="000000"/>
                </a:solidFill>
                <a:latin typeface="Californian FB" panose="0207040306080B030204" pitchFamily="18" charset="0"/>
              </a:rPr>
              <a:t>Introduction </a:t>
            </a:r>
          </a:p>
          <a:p>
            <a:r>
              <a:rPr lang="en-US" dirty="0">
                <a:solidFill>
                  <a:srgbClr val="000000"/>
                </a:solidFill>
                <a:latin typeface="Californian FB" panose="0207040306080B030204" pitchFamily="18" charset="0"/>
              </a:rPr>
              <a:t>Project Workflow(CRISP-ML(Q))</a:t>
            </a:r>
          </a:p>
          <a:p>
            <a:r>
              <a:rPr lang="en-US" dirty="0">
                <a:solidFill>
                  <a:srgbClr val="000000"/>
                </a:solidFill>
                <a:latin typeface="Californian FB" panose="0207040306080B030204" pitchFamily="18" charset="0"/>
              </a:rPr>
              <a:t>Business and Data Understanding.</a:t>
            </a:r>
          </a:p>
          <a:p>
            <a:r>
              <a:rPr lang="en-US" dirty="0">
                <a:solidFill>
                  <a:srgbClr val="000000"/>
                </a:solidFill>
                <a:latin typeface="Californian FB" panose="0207040306080B030204" pitchFamily="18" charset="0"/>
              </a:rPr>
              <a:t>Data Pre-processing</a:t>
            </a:r>
          </a:p>
          <a:p>
            <a:r>
              <a:rPr lang="en-US" dirty="0">
                <a:solidFill>
                  <a:srgbClr val="000000"/>
                </a:solidFill>
                <a:latin typeface="Californian FB" panose="0207040306080B030204" pitchFamily="18" charset="0"/>
              </a:rPr>
              <a:t>Model Building</a:t>
            </a:r>
          </a:p>
          <a:p>
            <a:r>
              <a:rPr lang="en-US" dirty="0">
                <a:solidFill>
                  <a:srgbClr val="000000"/>
                </a:solidFill>
                <a:latin typeface="Californian FB" panose="0207040306080B030204" pitchFamily="18" charset="0"/>
              </a:rPr>
              <a:t>Cross Validation</a:t>
            </a:r>
          </a:p>
          <a:p>
            <a:r>
              <a:rPr lang="en-US" dirty="0">
                <a:solidFill>
                  <a:srgbClr val="000000"/>
                </a:solidFill>
                <a:latin typeface="Californian FB" panose="0207040306080B030204" pitchFamily="18" charset="0"/>
              </a:rPr>
              <a:t>Hyperparameter Tuning</a:t>
            </a:r>
          </a:p>
          <a:p>
            <a:r>
              <a:rPr lang="en-US" dirty="0">
                <a:solidFill>
                  <a:srgbClr val="000000"/>
                </a:solidFill>
                <a:latin typeface="Californian FB" panose="0207040306080B030204" pitchFamily="18" charset="0"/>
              </a:rPr>
              <a:t>Final Pipeline of Model</a:t>
            </a:r>
          </a:p>
          <a:p>
            <a:r>
              <a:rPr lang="en-US" dirty="0" err="1">
                <a:solidFill>
                  <a:srgbClr val="000000"/>
                </a:solidFill>
                <a:latin typeface="Californian FB" panose="0207040306080B030204" pitchFamily="18" charset="0"/>
              </a:rPr>
              <a:t>Streamlit</a:t>
            </a:r>
            <a:r>
              <a:rPr lang="en-US" dirty="0">
                <a:solidFill>
                  <a:srgbClr val="000000"/>
                </a:solidFill>
                <a:latin typeface="Californian FB" panose="0207040306080B030204" pitchFamily="18" charset="0"/>
              </a:rPr>
              <a:t> Deployment</a:t>
            </a:r>
          </a:p>
          <a:p>
            <a:r>
              <a:rPr lang="en-US" dirty="0">
                <a:solidFill>
                  <a:srgbClr val="000000"/>
                </a:solidFill>
                <a:latin typeface="Californian FB" panose="0207040306080B030204" pitchFamily="18" charset="0"/>
              </a:rPr>
              <a:t>Challenges Faced</a:t>
            </a:r>
          </a:p>
          <a:p>
            <a:r>
              <a:rPr lang="en-US" dirty="0">
                <a:solidFill>
                  <a:srgbClr val="000000"/>
                </a:solidFill>
                <a:latin typeface="Californian FB" panose="0207040306080B030204" pitchFamily="18" charset="0"/>
              </a:rPr>
              <a:t>Future Scope</a:t>
            </a:r>
          </a:p>
          <a:p>
            <a:r>
              <a:rPr lang="en-US" dirty="0">
                <a:solidFill>
                  <a:srgbClr val="000000"/>
                </a:solidFill>
                <a:latin typeface="Californian FB" panose="0207040306080B030204" pitchFamily="18" charset="0"/>
              </a:rPr>
              <a:t>Conclusion</a:t>
            </a:r>
          </a:p>
        </p:txBody>
      </p:sp>
      <p:pic>
        <p:nvPicPr>
          <p:cNvPr id="5" name="Picture 4">
            <a:extLst>
              <a:ext uri="{FF2B5EF4-FFF2-40B4-BE49-F238E27FC236}">
                <a16:creationId xmlns:a16="http://schemas.microsoft.com/office/drawing/2014/main" id="{49212A13-51AF-8F9E-7A72-7042C31F99AE}"/>
              </a:ext>
            </a:extLst>
          </p:cNvPr>
          <p:cNvPicPr>
            <a:picLocks noChangeAspect="1"/>
          </p:cNvPicPr>
          <p:nvPr/>
        </p:nvPicPr>
        <p:blipFill>
          <a:blip r:embed="rId2"/>
          <a:stretch>
            <a:fillRect/>
          </a:stretch>
        </p:blipFill>
        <p:spPr>
          <a:xfrm>
            <a:off x="-36095" y="133113"/>
            <a:ext cx="1748589" cy="894735"/>
          </a:xfrm>
          <a:prstGeom prst="rect">
            <a:avLst/>
          </a:prstGeom>
        </p:spPr>
      </p:pic>
    </p:spTree>
    <p:extLst>
      <p:ext uri="{BB962C8B-B14F-4D97-AF65-F5344CB8AC3E}">
        <p14:creationId xmlns:p14="http://schemas.microsoft.com/office/powerpoint/2010/main" val="1971315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a:solidFill>
                  <a:srgbClr val="FF0000"/>
                </a:solidFill>
                <a:latin typeface="Times New Roman" panose="02020603050405020304" pitchFamily="18" charset="0"/>
                <a:cs typeface="Times New Roman" panose="02020603050405020304" pitchFamily="18" charset="0"/>
              </a:rPr>
              <a:t>Introduction</a:t>
            </a:r>
          </a:p>
        </p:txBody>
      </p:sp>
      <p:sp>
        <p:nvSpPr>
          <p:cNvPr id="3" name="Text Placeholder 2"/>
          <p:cNvSpPr>
            <a:spLocks noGrp="1"/>
          </p:cNvSpPr>
          <p:nvPr>
            <p:ph type="body" idx="1"/>
          </p:nvPr>
        </p:nvSpPr>
        <p:spPr>
          <a:xfrm>
            <a:off x="0" y="1789675"/>
            <a:ext cx="7556360" cy="4168673"/>
          </a:xfrm>
        </p:spPr>
        <p:txBody>
          <a:bodyPr>
            <a:normAutofit fontScale="85000" lnSpcReduction="20000"/>
          </a:bodyPr>
          <a:lstStyle/>
          <a:p>
            <a:pPr algn="just">
              <a:lnSpc>
                <a:spcPct val="150000"/>
              </a:lnSpc>
            </a:pPr>
            <a:r>
              <a:rPr lang="en-IN" sz="2400" dirty="0">
                <a:solidFill>
                  <a:srgbClr val="000000"/>
                </a:solidFill>
                <a:latin typeface="Times New Roman" panose="02020603050405020304" pitchFamily="18" charset="0"/>
                <a:cs typeface="Times New Roman" panose="02020603050405020304" pitchFamily="18" charset="0"/>
              </a:rPr>
              <a:t>Swiggy is one of India's leading online food delivery platforms, serving millions of customers every day.</a:t>
            </a:r>
          </a:p>
          <a:p>
            <a:pPr algn="just">
              <a:lnSpc>
                <a:spcPct val="150000"/>
              </a:lnSpc>
            </a:pPr>
            <a:r>
              <a:rPr lang="en-IN" sz="2400" dirty="0">
                <a:solidFill>
                  <a:srgbClr val="000000"/>
                </a:solidFill>
                <a:latin typeface="Times New Roman" panose="02020603050405020304" pitchFamily="18" charset="0"/>
                <a:cs typeface="Times New Roman" panose="02020603050405020304" pitchFamily="18" charset="0"/>
              </a:rPr>
              <a:t>Customers expect accurate Estimated Time of Arrival (ETA) for their orders.</a:t>
            </a:r>
          </a:p>
          <a:p>
            <a:pPr algn="just">
              <a:lnSpc>
                <a:spcPct val="150000"/>
              </a:lnSpc>
            </a:pPr>
            <a:r>
              <a:rPr lang="en-IN" sz="2400" dirty="0">
                <a:solidFill>
                  <a:srgbClr val="000000"/>
                </a:solidFill>
                <a:latin typeface="Times New Roman" panose="02020603050405020304" pitchFamily="18" charset="0"/>
                <a:cs typeface="Times New Roman" panose="02020603050405020304" pitchFamily="18" charset="0"/>
              </a:rPr>
              <a:t> Delivery time depends on factors such as weather, traffic, distance, rider performance, and multiple deliveries.</a:t>
            </a:r>
          </a:p>
          <a:p>
            <a:pPr algn="just">
              <a:lnSpc>
                <a:spcPct val="150000"/>
              </a:lnSpc>
            </a:pPr>
            <a:r>
              <a:rPr lang="en-IN" sz="2400" dirty="0">
                <a:solidFill>
                  <a:srgbClr val="000000"/>
                </a:solidFill>
                <a:latin typeface="Times New Roman" panose="02020603050405020304" pitchFamily="18" charset="0"/>
                <a:cs typeface="Times New Roman" panose="02020603050405020304" pitchFamily="18" charset="0"/>
              </a:rPr>
              <a:t>This project uses Machine Learning to predict delivery time accurately, helping improve customer satisfaction and delivery efficiency.</a:t>
            </a:r>
          </a:p>
        </p:txBody>
      </p:sp>
      <p:pic>
        <p:nvPicPr>
          <p:cNvPr id="6" name="Picture 5">
            <a:extLst>
              <a:ext uri="{FF2B5EF4-FFF2-40B4-BE49-F238E27FC236}">
                <a16:creationId xmlns:a16="http://schemas.microsoft.com/office/drawing/2014/main" id="{F1948594-86FE-201D-4D92-EC6BD66A5845}"/>
              </a:ext>
            </a:extLst>
          </p:cNvPr>
          <p:cNvPicPr>
            <a:picLocks noChangeAspect="1"/>
          </p:cNvPicPr>
          <p:nvPr/>
        </p:nvPicPr>
        <p:blipFill>
          <a:blip r:embed="rId2"/>
          <a:stretch>
            <a:fillRect/>
          </a:stretch>
        </p:blipFill>
        <p:spPr>
          <a:xfrm>
            <a:off x="7629832" y="1524578"/>
            <a:ext cx="4434349" cy="4246957"/>
          </a:xfrm>
          <a:prstGeom prst="rect">
            <a:avLst/>
          </a:prstGeom>
        </p:spPr>
      </p:pic>
      <p:pic>
        <p:nvPicPr>
          <p:cNvPr id="5" name="Picture 4">
            <a:extLst>
              <a:ext uri="{FF2B5EF4-FFF2-40B4-BE49-F238E27FC236}">
                <a16:creationId xmlns:a16="http://schemas.microsoft.com/office/drawing/2014/main" id="{8D7F5530-4209-39B8-C389-4E4601BD42C6}"/>
              </a:ext>
            </a:extLst>
          </p:cNvPr>
          <p:cNvPicPr>
            <a:picLocks noChangeAspect="1"/>
          </p:cNvPicPr>
          <p:nvPr/>
        </p:nvPicPr>
        <p:blipFill>
          <a:blip r:embed="rId3"/>
          <a:stretch>
            <a:fillRect/>
          </a:stretch>
        </p:blipFill>
        <p:spPr>
          <a:xfrm>
            <a:off x="116758" y="717755"/>
            <a:ext cx="1748589" cy="894735"/>
          </a:xfrm>
          <a:prstGeom prst="rect">
            <a:avLst/>
          </a:prstGeom>
        </p:spPr>
      </p:pic>
    </p:spTree>
    <p:extLst>
      <p:ext uri="{BB962C8B-B14F-4D97-AF65-F5344CB8AC3E}">
        <p14:creationId xmlns:p14="http://schemas.microsoft.com/office/powerpoint/2010/main" val="2414457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gn="ctr"/>
            <a:r>
              <a:rPr lang="en-US" b="1" u="sng" dirty="0">
                <a:solidFill>
                  <a:srgbClr val="FF0000"/>
                </a:solidFill>
                <a:latin typeface="Times New Roman" panose="02020603050405020304" pitchFamily="18" charset="0"/>
                <a:cs typeface="Times New Roman" panose="02020603050405020304" pitchFamily="18" charset="0"/>
              </a:rPr>
              <a:t>Project Workflow – CRISP-ML(Q)</a:t>
            </a:r>
          </a:p>
        </p:txBody>
      </p:sp>
      <p:sp>
        <p:nvSpPr>
          <p:cNvPr id="9" name="Text Placeholder 6"/>
          <p:cNvSpPr>
            <a:spLocks noGrp="1"/>
          </p:cNvSpPr>
          <p:nvPr>
            <p:ph type="body" idx="1"/>
          </p:nvPr>
        </p:nvSpPr>
        <p:spPr>
          <a:xfrm>
            <a:off x="230306" y="1690688"/>
            <a:ext cx="11731388" cy="4696464"/>
          </a:xfrm>
        </p:spPr>
        <p:txBody>
          <a:bodyPr>
            <a:normAutofit/>
          </a:bodyPr>
          <a:lstStyle/>
          <a:p>
            <a:r>
              <a:rPr lang="en-US" sz="2400" dirty="0">
                <a:solidFill>
                  <a:srgbClr val="000000"/>
                </a:solidFill>
                <a:latin typeface="Californian FB" panose="0207040306080B030204" pitchFamily="18" charset="0"/>
              </a:rPr>
              <a:t>Business &amp; Data Understanding.</a:t>
            </a:r>
          </a:p>
          <a:p>
            <a:endParaRPr lang="en-US" sz="2400" dirty="0">
              <a:latin typeface="Californian FB" panose="0207040306080B030204" pitchFamily="18" charset="0"/>
            </a:endParaRPr>
          </a:p>
          <a:p>
            <a:r>
              <a:rPr lang="en-US" sz="2400" dirty="0">
                <a:solidFill>
                  <a:srgbClr val="000000"/>
                </a:solidFill>
                <a:latin typeface="Californian FB" panose="0207040306080B030204" pitchFamily="18" charset="0"/>
              </a:rPr>
              <a:t>Data Pre-processing</a:t>
            </a:r>
          </a:p>
          <a:p>
            <a:endParaRPr lang="en-US" sz="2400" dirty="0">
              <a:latin typeface="Californian FB" panose="0207040306080B030204" pitchFamily="18" charset="0"/>
            </a:endParaRPr>
          </a:p>
          <a:p>
            <a:r>
              <a:rPr lang="en-US" sz="2400" dirty="0">
                <a:solidFill>
                  <a:srgbClr val="000000"/>
                </a:solidFill>
                <a:latin typeface="Californian FB" panose="0207040306080B030204" pitchFamily="18" charset="0"/>
              </a:rPr>
              <a:t>Model Building</a:t>
            </a:r>
          </a:p>
          <a:p>
            <a:endParaRPr lang="en-US" sz="2400" dirty="0">
              <a:latin typeface="Californian FB" panose="0207040306080B030204" pitchFamily="18" charset="0"/>
            </a:endParaRPr>
          </a:p>
          <a:p>
            <a:r>
              <a:rPr lang="en-US" sz="2400" dirty="0">
                <a:solidFill>
                  <a:srgbClr val="000000"/>
                </a:solidFill>
                <a:latin typeface="Californian FB" panose="0207040306080B030204" pitchFamily="18" charset="0"/>
              </a:rPr>
              <a:t>Model Evaluation</a:t>
            </a:r>
          </a:p>
          <a:p>
            <a:endParaRPr lang="en-US" sz="2400" dirty="0">
              <a:latin typeface="Californian FB" panose="0207040306080B030204" pitchFamily="18" charset="0"/>
            </a:endParaRPr>
          </a:p>
          <a:p>
            <a:r>
              <a:rPr lang="en-US" sz="2400" dirty="0">
                <a:solidFill>
                  <a:srgbClr val="000000"/>
                </a:solidFill>
                <a:latin typeface="Californian FB" panose="0207040306080B030204" pitchFamily="18" charset="0"/>
              </a:rPr>
              <a:t>Model Deployment</a:t>
            </a:r>
          </a:p>
          <a:p>
            <a:pPr marL="114300" indent="0">
              <a:buNone/>
            </a:pPr>
            <a:endParaRPr lang="en-US" sz="2400" dirty="0">
              <a:latin typeface="Californian FB" panose="0207040306080B030204" pitchFamily="18" charset="0"/>
            </a:endParaRPr>
          </a:p>
        </p:txBody>
      </p:sp>
      <p:pic>
        <p:nvPicPr>
          <p:cNvPr id="3" name="Picture 2">
            <a:extLst>
              <a:ext uri="{FF2B5EF4-FFF2-40B4-BE49-F238E27FC236}">
                <a16:creationId xmlns:a16="http://schemas.microsoft.com/office/drawing/2014/main" id="{714AC45D-D72B-824A-C454-1222937C80E1}"/>
              </a:ext>
            </a:extLst>
          </p:cNvPr>
          <p:cNvPicPr>
            <a:picLocks noChangeAspect="1"/>
          </p:cNvPicPr>
          <p:nvPr/>
        </p:nvPicPr>
        <p:blipFill>
          <a:blip r:embed="rId2"/>
          <a:stretch>
            <a:fillRect/>
          </a:stretch>
        </p:blipFill>
        <p:spPr>
          <a:xfrm>
            <a:off x="-138880" y="133171"/>
            <a:ext cx="1748589" cy="894735"/>
          </a:xfrm>
          <a:prstGeom prst="rect">
            <a:avLst/>
          </a:prstGeom>
        </p:spPr>
      </p:pic>
    </p:spTree>
    <p:extLst>
      <p:ext uri="{BB962C8B-B14F-4D97-AF65-F5344CB8AC3E}">
        <p14:creationId xmlns:p14="http://schemas.microsoft.com/office/powerpoint/2010/main" val="147258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1253" y="752931"/>
            <a:ext cx="10515600" cy="590219"/>
          </a:xfrm>
        </p:spPr>
        <p:txBody>
          <a:bodyPr>
            <a:noAutofit/>
          </a:bodyPr>
          <a:lstStyle/>
          <a:p>
            <a:pPr algn="ctr"/>
            <a:r>
              <a:rPr lang="en-US" b="1" u="sng" dirty="0">
                <a:solidFill>
                  <a:srgbClr val="FF0000"/>
                </a:solidFill>
                <a:latin typeface="Times New Roman" panose="02020603050405020304" pitchFamily="18" charset="0"/>
                <a:cs typeface="Times New Roman" panose="02020603050405020304" pitchFamily="18" charset="0"/>
              </a:rPr>
              <a:t>Problem statement &amp; Objective</a:t>
            </a:r>
          </a:p>
        </p:txBody>
      </p:sp>
      <p:sp>
        <p:nvSpPr>
          <p:cNvPr id="3" name="Text Placeholder 2"/>
          <p:cNvSpPr>
            <a:spLocks noGrp="1"/>
          </p:cNvSpPr>
          <p:nvPr>
            <p:ph type="body" idx="1"/>
          </p:nvPr>
        </p:nvSpPr>
        <p:spPr>
          <a:xfrm>
            <a:off x="152400" y="1724211"/>
            <a:ext cx="11887200" cy="5448632"/>
          </a:xfrm>
        </p:spPr>
        <p:txBody>
          <a:bodyPr>
            <a:normAutofit/>
          </a:bodyPr>
          <a:lstStyle/>
          <a:p>
            <a:pPr marL="114300" indent="0">
              <a:buNone/>
            </a:pPr>
            <a:r>
              <a:rPr lang="en-US" sz="2400" b="1" u="sng" dirty="0">
                <a:solidFill>
                  <a:srgbClr val="000000"/>
                </a:solidFill>
                <a:latin typeface="Times New Roman" panose="02020603050405020304" pitchFamily="18" charset="0"/>
                <a:cs typeface="Times New Roman" panose="02020603050405020304" pitchFamily="18" charset="0"/>
              </a:rPr>
              <a:t>Business Problem:</a:t>
            </a:r>
          </a:p>
          <a:p>
            <a:r>
              <a:rPr lang="en-IN" sz="2000" dirty="0">
                <a:solidFill>
                  <a:srgbClr val="000000"/>
                </a:solidFill>
                <a:latin typeface="Times New Roman" panose="02020603050405020304" pitchFamily="18" charset="0"/>
                <a:cs typeface="Times New Roman" panose="02020603050405020304" pitchFamily="18" charset="0"/>
              </a:rPr>
              <a:t>Swiggy delivers millions of food orders every day, but accurately estimating delivery time is challenging due to dynamic factors such as traffic, weather, delivery distance, rider performance, and multiple deliveries. Inaccurate delivery time estimates can reduce customer satisfaction and affect operational efficiency.</a:t>
            </a:r>
          </a:p>
          <a:p>
            <a:r>
              <a:rPr lang="en-IN" sz="2000" dirty="0">
                <a:solidFill>
                  <a:srgbClr val="000000"/>
                </a:solidFill>
                <a:latin typeface="Times New Roman" panose="02020603050405020304" pitchFamily="18" charset="0"/>
                <a:cs typeface="Times New Roman" panose="02020603050405020304" pitchFamily="18" charset="0"/>
              </a:rPr>
              <a:t>The objective of this project is to develop a Machine Learning model that predicts food delivery time accurately using delivery partner details, order information, weather, traffic, and location-based features. The final model is deployed using </a:t>
            </a:r>
            <a:r>
              <a:rPr lang="en-IN" sz="2000" dirty="0" err="1">
                <a:solidFill>
                  <a:srgbClr val="000000"/>
                </a:solidFill>
                <a:latin typeface="Times New Roman" panose="02020603050405020304" pitchFamily="18" charset="0"/>
                <a:cs typeface="Times New Roman" panose="02020603050405020304" pitchFamily="18" charset="0"/>
              </a:rPr>
              <a:t>Streamlit</a:t>
            </a:r>
            <a:r>
              <a:rPr lang="en-IN" sz="2000" dirty="0">
                <a:solidFill>
                  <a:srgbClr val="000000"/>
                </a:solidFill>
                <a:latin typeface="Times New Roman" panose="02020603050405020304" pitchFamily="18" charset="0"/>
                <a:cs typeface="Times New Roman" panose="02020603050405020304" pitchFamily="18" charset="0"/>
              </a:rPr>
              <a:t> for real-time delivery time prediction.</a:t>
            </a:r>
          </a:p>
          <a:p>
            <a:pPr marL="114300" indent="0">
              <a:buNone/>
            </a:pPr>
            <a:r>
              <a:rPr lang="en-IN" sz="2400" b="1" u="sng" dirty="0">
                <a:solidFill>
                  <a:srgbClr val="000000"/>
                </a:solidFill>
                <a:latin typeface="Times New Roman" panose="02020603050405020304" pitchFamily="18" charset="0"/>
                <a:cs typeface="Times New Roman" panose="02020603050405020304" pitchFamily="18" charset="0"/>
              </a:rPr>
              <a:t>Business Goal:</a:t>
            </a:r>
          </a:p>
          <a:p>
            <a:pPr>
              <a:buFont typeface="Arial" panose="020B0604020202020204" pitchFamily="34" charset="0"/>
              <a:buChar char="•"/>
            </a:pPr>
            <a:r>
              <a:rPr lang="en-IN" sz="2000" dirty="0">
                <a:solidFill>
                  <a:srgbClr val="000000"/>
                </a:solidFill>
                <a:latin typeface="Times New Roman" panose="02020603050405020304" pitchFamily="18" charset="0"/>
                <a:cs typeface="Times New Roman" panose="02020603050405020304" pitchFamily="18" charset="0"/>
              </a:rPr>
              <a:t>Improve delivery time prediction accuracy.</a:t>
            </a:r>
          </a:p>
          <a:p>
            <a:pPr>
              <a:buFont typeface="Arial" panose="020B0604020202020204" pitchFamily="34" charset="0"/>
              <a:buChar char="•"/>
            </a:pPr>
            <a:r>
              <a:rPr lang="en-IN" sz="2000" dirty="0">
                <a:solidFill>
                  <a:srgbClr val="000000"/>
                </a:solidFill>
                <a:latin typeface="Times New Roman" panose="02020603050405020304" pitchFamily="18" charset="0"/>
                <a:cs typeface="Times New Roman" panose="02020603050405020304" pitchFamily="18" charset="0"/>
              </a:rPr>
              <a:t>Enhance customer satisfaction with reliable ETAs.</a:t>
            </a:r>
          </a:p>
          <a:p>
            <a:pPr>
              <a:buFont typeface="Arial" panose="020B0604020202020204" pitchFamily="34" charset="0"/>
              <a:buChar char="•"/>
            </a:pPr>
            <a:r>
              <a:rPr lang="en-IN" sz="2000" dirty="0">
                <a:solidFill>
                  <a:srgbClr val="000000"/>
                </a:solidFill>
                <a:latin typeface="Times New Roman" panose="02020603050405020304" pitchFamily="18" charset="0"/>
                <a:cs typeface="Times New Roman" panose="02020603050405020304" pitchFamily="18" charset="0"/>
              </a:rPr>
              <a:t>Support efficient delivery planning and operations.</a:t>
            </a:r>
            <a:endParaRPr lang="en-US" sz="2000" dirty="0">
              <a:latin typeface="Times New Roman" panose="02020603050405020304" pitchFamily="18" charset="0"/>
              <a:cs typeface="Times New Roman" panose="02020603050405020304" pitchFamily="18" charset="0"/>
            </a:endParaRPr>
          </a:p>
          <a:p>
            <a:pPr marL="114300" indent="0">
              <a:buNone/>
            </a:pPr>
            <a:endParaRPr lang="en-US" sz="2200" b="1" dirty="0">
              <a:latin typeface="Californian FB" panose="0207040306080B030204" pitchFamily="18" charset="0"/>
            </a:endParaRPr>
          </a:p>
        </p:txBody>
      </p:sp>
      <p:pic>
        <p:nvPicPr>
          <p:cNvPr id="5" name="Picture 4">
            <a:extLst>
              <a:ext uri="{FF2B5EF4-FFF2-40B4-BE49-F238E27FC236}">
                <a16:creationId xmlns:a16="http://schemas.microsoft.com/office/drawing/2014/main" id="{834B7DE1-03ED-0769-0364-DAA7D254061B}"/>
              </a:ext>
            </a:extLst>
          </p:cNvPr>
          <p:cNvPicPr>
            <a:picLocks noChangeAspect="1"/>
          </p:cNvPicPr>
          <p:nvPr/>
        </p:nvPicPr>
        <p:blipFill>
          <a:blip r:embed="rId2"/>
          <a:stretch>
            <a:fillRect/>
          </a:stretch>
        </p:blipFill>
        <p:spPr>
          <a:xfrm>
            <a:off x="-233042" y="191578"/>
            <a:ext cx="1748589" cy="894735"/>
          </a:xfrm>
          <a:prstGeom prst="rect">
            <a:avLst/>
          </a:prstGeom>
        </p:spPr>
      </p:pic>
    </p:spTree>
    <p:extLst>
      <p:ext uri="{BB962C8B-B14F-4D97-AF65-F5344CB8AC3E}">
        <p14:creationId xmlns:p14="http://schemas.microsoft.com/office/powerpoint/2010/main" val="3339107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41101" y="324933"/>
            <a:ext cx="10515600" cy="589468"/>
          </a:xfrm>
        </p:spPr>
        <p:txBody>
          <a:bodyPr>
            <a:normAutofit fontScale="90000"/>
          </a:bodyPr>
          <a:lstStyle/>
          <a:p>
            <a:pPr algn="ctr"/>
            <a:r>
              <a:rPr lang="en-US" b="1" u="sng" dirty="0">
                <a:solidFill>
                  <a:srgbClr val="FF0000"/>
                </a:solidFill>
                <a:latin typeface="Times New Roman" panose="02020603050405020304" pitchFamily="18" charset="0"/>
                <a:cs typeface="Times New Roman" panose="02020603050405020304" pitchFamily="18" charset="0"/>
              </a:rPr>
              <a:t>Dataset Overview</a:t>
            </a:r>
          </a:p>
        </p:txBody>
      </p:sp>
      <p:graphicFrame>
        <p:nvGraphicFramePr>
          <p:cNvPr id="9" name="Table 8">
            <a:extLst>
              <a:ext uri="{FF2B5EF4-FFF2-40B4-BE49-F238E27FC236}">
                <a16:creationId xmlns:a16="http://schemas.microsoft.com/office/drawing/2014/main" id="{C4632B1F-6A71-B49D-E0EE-ACB52A0A5E84}"/>
              </a:ext>
            </a:extLst>
          </p:cNvPr>
          <p:cNvGraphicFramePr>
            <a:graphicFrameLocks noGrp="1"/>
          </p:cNvGraphicFramePr>
          <p:nvPr>
            <p:extLst>
              <p:ext uri="{D42A27DB-BD31-4B8C-83A1-F6EECF244321}">
                <p14:modId xmlns:p14="http://schemas.microsoft.com/office/powerpoint/2010/main" val="2619077127"/>
              </p:ext>
            </p:extLst>
          </p:nvPr>
        </p:nvGraphicFramePr>
        <p:xfrm>
          <a:off x="1808702" y="914401"/>
          <a:ext cx="9284678" cy="5818278"/>
        </p:xfrm>
        <a:graphic>
          <a:graphicData uri="http://schemas.openxmlformats.org/drawingml/2006/table">
            <a:tbl>
              <a:tblPr/>
              <a:tblGrid>
                <a:gridCol w="4642339">
                  <a:extLst>
                    <a:ext uri="{9D8B030D-6E8A-4147-A177-3AD203B41FA5}">
                      <a16:colId xmlns:a16="http://schemas.microsoft.com/office/drawing/2014/main" val="578419664"/>
                    </a:ext>
                  </a:extLst>
                </a:gridCol>
                <a:gridCol w="4642339">
                  <a:extLst>
                    <a:ext uri="{9D8B030D-6E8A-4147-A177-3AD203B41FA5}">
                      <a16:colId xmlns:a16="http://schemas.microsoft.com/office/drawing/2014/main" val="3388663178"/>
                    </a:ext>
                  </a:extLst>
                </a:gridCol>
              </a:tblGrid>
              <a:tr h="190719">
                <a:tc>
                  <a:txBody>
                    <a:bodyPr/>
                    <a:lstStyle/>
                    <a:p>
                      <a:pPr marL="0" algn="l" rtl="0" eaLnBrk="1" fontAlgn="ctr" latinLnBrk="0" hangingPunct="1">
                        <a:buNone/>
                      </a:pPr>
                      <a:r>
                        <a:rPr lang="en-IN" sz="1200" b="0" i="0" u="none" strike="noStrike" kern="1200" dirty="0">
                          <a:solidFill>
                            <a:srgbClr val="000000"/>
                          </a:solidFill>
                          <a:effectLst/>
                          <a:latin typeface="Times New Roman" panose="02020603050405020304" pitchFamily="18" charset="0"/>
                          <a:cs typeface="Times New Roman" panose="02020603050405020304" pitchFamily="18" charset="0"/>
                        </a:rPr>
                        <a:t>Column Name</a:t>
                      </a:r>
                      <a:endParaRPr lang="en-IN" sz="1200" b="0" i="0" u="none" strike="noStrike" dirty="0">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IN" sz="1200" b="0" i="0" u="none" strike="noStrike" kern="1200">
                          <a:solidFill>
                            <a:srgbClr val="000000"/>
                          </a:solidFill>
                          <a:effectLst/>
                          <a:latin typeface="Times New Roman" panose="02020603050405020304" pitchFamily="18" charset="0"/>
                          <a:cs typeface="Times New Roman" panose="02020603050405020304" pitchFamily="18" charset="0"/>
                        </a:rPr>
                        <a:t>Description</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3939020728"/>
                  </a:ext>
                </a:extLst>
              </a:tr>
              <a:tr h="190719">
                <a:tc>
                  <a:txBody>
                    <a:bodyPr/>
                    <a:lstStyle/>
                    <a:p>
                      <a:pPr marL="0" algn="l" rtl="0" eaLnBrk="1" fontAlgn="ctr" latinLnBrk="0" hangingPunct="1">
                        <a:buNone/>
                      </a:pPr>
                      <a:r>
                        <a:rPr lang="en-IN" sz="1200" b="0" i="0" u="none" strike="noStrike" kern="1200" dirty="0" err="1">
                          <a:solidFill>
                            <a:srgbClr val="000000"/>
                          </a:solidFill>
                          <a:effectLst/>
                          <a:latin typeface="Times New Roman" panose="02020603050405020304" pitchFamily="18" charset="0"/>
                          <a:cs typeface="Times New Roman" panose="02020603050405020304" pitchFamily="18" charset="0"/>
                        </a:rPr>
                        <a:t>rider_id</a:t>
                      </a:r>
                      <a:endParaRPr lang="en-IN" sz="1200" b="0" i="0" u="none" strike="noStrike" dirty="0">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US" sz="1200" b="0" i="0" u="none" strike="noStrike" kern="1200">
                          <a:solidFill>
                            <a:srgbClr val="000000"/>
                          </a:solidFill>
                          <a:effectLst/>
                          <a:latin typeface="Times New Roman" panose="02020603050405020304" pitchFamily="18" charset="0"/>
                          <a:cs typeface="Times New Roman" panose="02020603050405020304" pitchFamily="18" charset="0"/>
                        </a:rPr>
                        <a:t>Unique identifier for each delivery partner</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1459455139"/>
                  </a:ext>
                </a:extLst>
              </a:tr>
              <a:tr h="190719">
                <a:tc>
                  <a:txBody>
                    <a:bodyPr/>
                    <a:lstStyle/>
                    <a:p>
                      <a:pPr marL="0" algn="l" rtl="0" eaLnBrk="1" fontAlgn="ctr" latinLnBrk="0" hangingPunct="1">
                        <a:buNone/>
                      </a:pPr>
                      <a:r>
                        <a:rPr lang="en-IN" sz="1200" b="0" i="0" u="none" strike="noStrike" kern="1200" dirty="0">
                          <a:solidFill>
                            <a:srgbClr val="000000"/>
                          </a:solidFill>
                          <a:effectLst/>
                          <a:latin typeface="Times New Roman" panose="02020603050405020304" pitchFamily="18" charset="0"/>
                          <a:cs typeface="Times New Roman" panose="02020603050405020304" pitchFamily="18" charset="0"/>
                        </a:rPr>
                        <a:t>age</a:t>
                      </a:r>
                      <a:endParaRPr lang="en-IN" sz="1200" b="0" i="0" u="none" strike="noStrike" dirty="0">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US" sz="1200" b="0" i="0" u="none" strike="noStrike" kern="1200">
                          <a:solidFill>
                            <a:srgbClr val="000000"/>
                          </a:solidFill>
                          <a:effectLst/>
                          <a:latin typeface="Times New Roman" panose="02020603050405020304" pitchFamily="18" charset="0"/>
                          <a:cs typeface="Times New Roman" panose="02020603050405020304" pitchFamily="18" charset="0"/>
                        </a:rPr>
                        <a:t>Age of the delivery partner</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1976147988"/>
                  </a:ext>
                </a:extLst>
              </a:tr>
              <a:tr h="190719">
                <a:tc>
                  <a:txBody>
                    <a:bodyPr/>
                    <a:lstStyle/>
                    <a:p>
                      <a:pPr marL="0" algn="l" rtl="0" eaLnBrk="1" fontAlgn="ctr" latinLnBrk="0" hangingPunct="1">
                        <a:buNone/>
                      </a:pPr>
                      <a:r>
                        <a:rPr lang="en-IN" sz="1200" b="0" i="0" u="none" strike="noStrike" kern="1200">
                          <a:solidFill>
                            <a:srgbClr val="000000"/>
                          </a:solidFill>
                          <a:effectLst/>
                          <a:latin typeface="Times New Roman" panose="02020603050405020304" pitchFamily="18" charset="0"/>
                          <a:cs typeface="Times New Roman" panose="02020603050405020304" pitchFamily="18" charset="0"/>
                        </a:rPr>
                        <a:t>ratings</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US" sz="1200" b="0" i="0" u="none" strike="noStrike" kern="1200">
                          <a:solidFill>
                            <a:srgbClr val="000000"/>
                          </a:solidFill>
                          <a:effectLst/>
                          <a:latin typeface="Times New Roman" panose="02020603050405020304" pitchFamily="18" charset="0"/>
                          <a:cs typeface="Times New Roman" panose="02020603050405020304" pitchFamily="18" charset="0"/>
                        </a:rPr>
                        <a:t>Average customer rating of the rider</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1160954168"/>
                  </a:ext>
                </a:extLst>
              </a:tr>
              <a:tr h="190719">
                <a:tc>
                  <a:txBody>
                    <a:bodyPr/>
                    <a:lstStyle/>
                    <a:p>
                      <a:pPr marL="0" algn="l" rtl="0" eaLnBrk="1" fontAlgn="ctr" latinLnBrk="0" hangingPunct="1">
                        <a:buNone/>
                      </a:pPr>
                      <a:r>
                        <a:rPr lang="en-IN" sz="1200" b="0" i="0" u="none" strike="noStrike" kern="1200" dirty="0" err="1">
                          <a:solidFill>
                            <a:srgbClr val="000000"/>
                          </a:solidFill>
                          <a:effectLst/>
                          <a:latin typeface="Times New Roman" panose="02020603050405020304" pitchFamily="18" charset="0"/>
                          <a:cs typeface="Times New Roman" panose="02020603050405020304" pitchFamily="18" charset="0"/>
                        </a:rPr>
                        <a:t>vehicle_condition</a:t>
                      </a:r>
                      <a:endParaRPr lang="en-IN" sz="1200" b="0" i="0" u="none" strike="noStrike" dirty="0">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US" sz="1200" b="0" i="0" u="none" strike="noStrike" kern="1200">
                          <a:solidFill>
                            <a:srgbClr val="000000"/>
                          </a:solidFill>
                          <a:effectLst/>
                          <a:latin typeface="Times New Roman" panose="02020603050405020304" pitchFamily="18" charset="0"/>
                          <a:cs typeface="Times New Roman" panose="02020603050405020304" pitchFamily="18" charset="0"/>
                        </a:rPr>
                        <a:t>Condition of vehicle (0 = Poor, 1 = Average, 2 = Good)</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1782987445"/>
                  </a:ext>
                </a:extLst>
              </a:tr>
              <a:tr h="190719">
                <a:tc>
                  <a:txBody>
                    <a:bodyPr/>
                    <a:lstStyle/>
                    <a:p>
                      <a:pPr marL="0" algn="l" rtl="0" eaLnBrk="1" fontAlgn="ctr" latinLnBrk="0" hangingPunct="1">
                        <a:buNone/>
                      </a:pPr>
                      <a:r>
                        <a:rPr lang="en-IN" sz="1200" b="0" i="0" u="none" strike="noStrike" kern="1200" dirty="0" err="1">
                          <a:solidFill>
                            <a:srgbClr val="000000"/>
                          </a:solidFill>
                          <a:effectLst/>
                          <a:latin typeface="Times New Roman" panose="02020603050405020304" pitchFamily="18" charset="0"/>
                          <a:cs typeface="Times New Roman" panose="02020603050405020304" pitchFamily="18" charset="0"/>
                        </a:rPr>
                        <a:t>type_of_vehicle</a:t>
                      </a:r>
                      <a:endParaRPr lang="en-IN" sz="1200" b="0" i="0" u="none" strike="noStrike" dirty="0">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US" sz="1200" b="0" i="0" u="none" strike="noStrike" kern="1200">
                          <a:solidFill>
                            <a:srgbClr val="000000"/>
                          </a:solidFill>
                          <a:effectLst/>
                          <a:latin typeface="Times New Roman" panose="02020603050405020304" pitchFamily="18" charset="0"/>
                          <a:cs typeface="Times New Roman" panose="02020603050405020304" pitchFamily="18" charset="0"/>
                        </a:rPr>
                        <a:t>Vehicle used for delivery (motorcycle, scooter, etc.)</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3735316672"/>
                  </a:ext>
                </a:extLst>
              </a:tr>
              <a:tr h="190719">
                <a:tc>
                  <a:txBody>
                    <a:bodyPr/>
                    <a:lstStyle/>
                    <a:p>
                      <a:pPr marL="0" algn="l" rtl="0" eaLnBrk="1" fontAlgn="ctr" latinLnBrk="0" hangingPunct="1">
                        <a:buNone/>
                      </a:pPr>
                      <a:r>
                        <a:rPr lang="en-IN" sz="1200" b="0" i="0" u="none" strike="noStrike" kern="1200">
                          <a:solidFill>
                            <a:srgbClr val="000000"/>
                          </a:solidFill>
                          <a:effectLst/>
                          <a:latin typeface="Times New Roman" panose="02020603050405020304" pitchFamily="18" charset="0"/>
                          <a:cs typeface="Times New Roman" panose="02020603050405020304" pitchFamily="18" charset="0"/>
                        </a:rPr>
                        <a:t>type_of_order</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US" sz="1200" b="0" i="0" u="none" strike="noStrike" kern="1200">
                          <a:solidFill>
                            <a:srgbClr val="000000"/>
                          </a:solidFill>
                          <a:effectLst/>
                          <a:latin typeface="Times New Roman" panose="02020603050405020304" pitchFamily="18" charset="0"/>
                          <a:cs typeface="Times New Roman" panose="02020603050405020304" pitchFamily="18" charset="0"/>
                        </a:rPr>
                        <a:t>Type of food ordered (snack, meal, drinks, buffet)</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456942121"/>
                  </a:ext>
                </a:extLst>
              </a:tr>
              <a:tr h="190719">
                <a:tc>
                  <a:txBody>
                    <a:bodyPr/>
                    <a:lstStyle/>
                    <a:p>
                      <a:pPr marL="0" algn="l" rtl="0" eaLnBrk="1" fontAlgn="ctr" latinLnBrk="0" hangingPunct="1">
                        <a:buNone/>
                      </a:pPr>
                      <a:r>
                        <a:rPr lang="en-IN" sz="1200" b="0" i="0" u="none" strike="noStrike" kern="1200">
                          <a:solidFill>
                            <a:srgbClr val="000000"/>
                          </a:solidFill>
                          <a:effectLst/>
                          <a:latin typeface="Times New Roman" panose="02020603050405020304" pitchFamily="18" charset="0"/>
                          <a:cs typeface="Times New Roman" panose="02020603050405020304" pitchFamily="18" charset="0"/>
                        </a:rPr>
                        <a:t>multiple_deliveries</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US" sz="1200" b="0" i="0" u="none" strike="noStrike" kern="1200">
                          <a:solidFill>
                            <a:srgbClr val="000000"/>
                          </a:solidFill>
                          <a:effectLst/>
                          <a:latin typeface="Times New Roman" panose="02020603050405020304" pitchFamily="18" charset="0"/>
                          <a:cs typeface="Times New Roman" panose="02020603050405020304" pitchFamily="18" charset="0"/>
                        </a:rPr>
                        <a:t>Number of deliveries assigned in a single trip</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29525090"/>
                  </a:ext>
                </a:extLst>
              </a:tr>
              <a:tr h="322596">
                <a:tc>
                  <a:txBody>
                    <a:bodyPr/>
                    <a:lstStyle/>
                    <a:p>
                      <a:pPr marL="0" algn="l" rtl="0" eaLnBrk="1" fontAlgn="ctr" latinLnBrk="0" hangingPunct="1">
                        <a:buNone/>
                      </a:pPr>
                      <a:r>
                        <a:rPr lang="en-IN" sz="1200" b="0" i="0" u="none" strike="noStrike" kern="1200" dirty="0" err="1">
                          <a:solidFill>
                            <a:srgbClr val="000000"/>
                          </a:solidFill>
                          <a:effectLst/>
                          <a:latin typeface="Times New Roman" panose="02020603050405020304" pitchFamily="18" charset="0"/>
                          <a:cs typeface="Times New Roman" panose="02020603050405020304" pitchFamily="18" charset="0"/>
                        </a:rPr>
                        <a:t>pickup_time_minutes</a:t>
                      </a:r>
                      <a:endParaRPr lang="en-IN" sz="1200" b="0" i="0" u="none" strike="noStrike" dirty="0">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US" sz="1200" b="0" i="0" u="none" strike="noStrike" kern="1200">
                          <a:solidFill>
                            <a:srgbClr val="000000"/>
                          </a:solidFill>
                          <a:effectLst/>
                          <a:latin typeface="Times New Roman" panose="02020603050405020304" pitchFamily="18" charset="0"/>
                          <a:cs typeface="Times New Roman" panose="02020603050405020304" pitchFamily="18" charset="0"/>
                        </a:rPr>
                        <a:t>Time taken by restaurant to prepare the order (minutes)</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4153410306"/>
                  </a:ext>
                </a:extLst>
              </a:tr>
              <a:tr h="190719">
                <a:tc>
                  <a:txBody>
                    <a:bodyPr/>
                    <a:lstStyle/>
                    <a:p>
                      <a:pPr marL="0" algn="l" rtl="0" eaLnBrk="1" fontAlgn="ctr" latinLnBrk="0" hangingPunct="1">
                        <a:buNone/>
                      </a:pPr>
                      <a:r>
                        <a:rPr lang="en-IN" sz="1200" b="0" i="0" u="none" strike="noStrike" kern="1200">
                          <a:solidFill>
                            <a:srgbClr val="000000"/>
                          </a:solidFill>
                          <a:effectLst/>
                          <a:latin typeface="Times New Roman" panose="02020603050405020304" pitchFamily="18" charset="0"/>
                          <a:cs typeface="Times New Roman" panose="02020603050405020304" pitchFamily="18" charset="0"/>
                        </a:rPr>
                        <a:t>restaurant_longitude</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US" sz="1200" b="0" i="0" u="none" strike="noStrike" kern="1200">
                          <a:solidFill>
                            <a:srgbClr val="000000"/>
                          </a:solidFill>
                          <a:effectLst/>
                          <a:latin typeface="Times New Roman" panose="02020603050405020304" pitchFamily="18" charset="0"/>
                          <a:cs typeface="Times New Roman" panose="02020603050405020304" pitchFamily="18" charset="0"/>
                        </a:rPr>
                        <a:t>Longitude of the restaurant location</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1151092011"/>
                  </a:ext>
                </a:extLst>
              </a:tr>
              <a:tr h="190719">
                <a:tc>
                  <a:txBody>
                    <a:bodyPr/>
                    <a:lstStyle/>
                    <a:p>
                      <a:pPr marL="0" algn="l" rtl="0" eaLnBrk="1" fontAlgn="ctr" latinLnBrk="0" hangingPunct="1">
                        <a:buNone/>
                      </a:pPr>
                      <a:r>
                        <a:rPr lang="en-IN" sz="1200" b="0" i="0" u="none" strike="noStrike" kern="1200" dirty="0" err="1">
                          <a:solidFill>
                            <a:srgbClr val="000000"/>
                          </a:solidFill>
                          <a:effectLst/>
                          <a:latin typeface="Times New Roman" panose="02020603050405020304" pitchFamily="18" charset="0"/>
                          <a:cs typeface="Times New Roman" panose="02020603050405020304" pitchFamily="18" charset="0"/>
                        </a:rPr>
                        <a:t>delivery_longitude</a:t>
                      </a:r>
                      <a:endParaRPr lang="en-IN" sz="1200" b="0" i="0" u="none" strike="noStrike" dirty="0">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US" sz="1200" b="0" i="0" u="none" strike="noStrike" kern="1200">
                          <a:solidFill>
                            <a:srgbClr val="000000"/>
                          </a:solidFill>
                          <a:effectLst/>
                          <a:latin typeface="Times New Roman" panose="02020603050405020304" pitchFamily="18" charset="0"/>
                          <a:cs typeface="Times New Roman" panose="02020603050405020304" pitchFamily="18" charset="0"/>
                        </a:rPr>
                        <a:t>Longitude of the customer delivery location</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1883475762"/>
                  </a:ext>
                </a:extLst>
              </a:tr>
              <a:tr h="190719">
                <a:tc>
                  <a:txBody>
                    <a:bodyPr/>
                    <a:lstStyle/>
                    <a:p>
                      <a:pPr marL="0" algn="l" rtl="0" eaLnBrk="1" fontAlgn="ctr" latinLnBrk="0" hangingPunct="1">
                        <a:buNone/>
                      </a:pPr>
                      <a:r>
                        <a:rPr lang="en-IN" sz="1200" b="0" i="0" u="none" strike="noStrike" kern="1200" dirty="0" err="1">
                          <a:solidFill>
                            <a:srgbClr val="000000"/>
                          </a:solidFill>
                          <a:effectLst/>
                          <a:latin typeface="Times New Roman" panose="02020603050405020304" pitchFamily="18" charset="0"/>
                          <a:cs typeface="Times New Roman" panose="02020603050405020304" pitchFamily="18" charset="0"/>
                        </a:rPr>
                        <a:t>is_weekend</a:t>
                      </a:r>
                      <a:endParaRPr lang="en-IN" sz="1200" b="0" i="0" u="none" strike="noStrike" dirty="0">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US" sz="1200" b="0" i="0" u="none" strike="noStrike" kern="1200">
                          <a:solidFill>
                            <a:srgbClr val="000000"/>
                          </a:solidFill>
                          <a:effectLst/>
                          <a:latin typeface="Times New Roman" panose="02020603050405020304" pitchFamily="18" charset="0"/>
                          <a:cs typeface="Times New Roman" panose="02020603050405020304" pitchFamily="18" charset="0"/>
                        </a:rPr>
                        <a:t>Whether the order was placed on a weekend (Yes/No)</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2117768217"/>
                  </a:ext>
                </a:extLst>
              </a:tr>
              <a:tr h="190719">
                <a:tc>
                  <a:txBody>
                    <a:bodyPr/>
                    <a:lstStyle/>
                    <a:p>
                      <a:pPr marL="0" algn="l" rtl="0" eaLnBrk="1" fontAlgn="ctr" latinLnBrk="0" hangingPunct="1">
                        <a:buNone/>
                      </a:pPr>
                      <a:r>
                        <a:rPr lang="en-IN" sz="1200" b="0" i="0" u="none" strike="noStrike" kern="1200" dirty="0" err="1">
                          <a:solidFill>
                            <a:srgbClr val="000000"/>
                          </a:solidFill>
                          <a:effectLst/>
                          <a:latin typeface="Times New Roman" panose="02020603050405020304" pitchFamily="18" charset="0"/>
                          <a:cs typeface="Times New Roman" panose="02020603050405020304" pitchFamily="18" charset="0"/>
                        </a:rPr>
                        <a:t>order_time_hour</a:t>
                      </a:r>
                      <a:endParaRPr lang="en-IN" sz="1200" b="0" i="0" u="none" strike="noStrike" dirty="0">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US" sz="1200" b="0" i="0" u="none" strike="noStrike" kern="1200">
                          <a:solidFill>
                            <a:srgbClr val="000000"/>
                          </a:solidFill>
                          <a:effectLst/>
                          <a:latin typeface="Times New Roman" panose="02020603050405020304" pitchFamily="18" charset="0"/>
                          <a:cs typeface="Times New Roman" panose="02020603050405020304" pitchFamily="18" charset="0"/>
                        </a:rPr>
                        <a:t>Hour when the order was placed (0–23)</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4209494288"/>
                  </a:ext>
                </a:extLst>
              </a:tr>
              <a:tr h="190719">
                <a:tc>
                  <a:txBody>
                    <a:bodyPr/>
                    <a:lstStyle/>
                    <a:p>
                      <a:pPr marL="0" algn="l" rtl="0" eaLnBrk="1" fontAlgn="ctr" latinLnBrk="0" hangingPunct="1">
                        <a:buNone/>
                      </a:pPr>
                      <a:r>
                        <a:rPr lang="en-IN" sz="1200" b="0" i="0" u="none" strike="noStrike" kern="1200">
                          <a:solidFill>
                            <a:srgbClr val="000000"/>
                          </a:solidFill>
                          <a:effectLst/>
                          <a:latin typeface="Times New Roman" panose="02020603050405020304" pitchFamily="18" charset="0"/>
                          <a:cs typeface="Times New Roman" panose="02020603050405020304" pitchFamily="18" charset="0"/>
                        </a:rPr>
                        <a:t>order_time_of_day</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US" sz="1200" b="0" i="0" u="none" strike="noStrike" kern="1200" dirty="0">
                          <a:solidFill>
                            <a:srgbClr val="000000"/>
                          </a:solidFill>
                          <a:effectLst/>
                          <a:latin typeface="Times New Roman" panose="02020603050405020304" pitchFamily="18" charset="0"/>
                          <a:cs typeface="Times New Roman" panose="02020603050405020304" pitchFamily="18" charset="0"/>
                        </a:rPr>
                        <a:t>Time bucket (morning, afternoon, evening, night)</a:t>
                      </a:r>
                      <a:endParaRPr lang="en-IN" sz="1200" b="0" i="0" u="none" strike="noStrike" dirty="0">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3216219417"/>
                  </a:ext>
                </a:extLst>
              </a:tr>
              <a:tr h="322596">
                <a:tc>
                  <a:txBody>
                    <a:bodyPr/>
                    <a:lstStyle/>
                    <a:p>
                      <a:pPr marL="0" algn="l" rtl="0" eaLnBrk="1" fontAlgn="ctr" latinLnBrk="0" hangingPunct="1">
                        <a:buNone/>
                      </a:pPr>
                      <a:r>
                        <a:rPr lang="en-IN" sz="1200" b="0" i="0" u="none" strike="noStrike" kern="1200">
                          <a:solidFill>
                            <a:srgbClr val="000000"/>
                          </a:solidFill>
                          <a:effectLst/>
                          <a:latin typeface="Times New Roman" panose="02020603050405020304" pitchFamily="18" charset="0"/>
                          <a:cs typeface="Times New Roman" panose="02020603050405020304" pitchFamily="18" charset="0"/>
                        </a:rPr>
                        <a:t>weather</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US" sz="1200" b="0" i="0" u="none" strike="noStrike" kern="1200">
                          <a:solidFill>
                            <a:srgbClr val="000000"/>
                          </a:solidFill>
                          <a:effectLst/>
                          <a:latin typeface="Times New Roman" panose="02020603050405020304" pitchFamily="18" charset="0"/>
                          <a:cs typeface="Times New Roman" panose="02020603050405020304" pitchFamily="18" charset="0"/>
                        </a:rPr>
                        <a:t>Weather during delivery (sunny, cloudy, fog, stormy, sandstorms)</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317786295"/>
                  </a:ext>
                </a:extLst>
              </a:tr>
              <a:tr h="190719">
                <a:tc>
                  <a:txBody>
                    <a:bodyPr/>
                    <a:lstStyle/>
                    <a:p>
                      <a:pPr marL="0" algn="l" rtl="0" eaLnBrk="1" fontAlgn="ctr" latinLnBrk="0" hangingPunct="1">
                        <a:buNone/>
                      </a:pPr>
                      <a:r>
                        <a:rPr lang="en-IN" sz="1200" b="0" i="0" u="none" strike="noStrike" kern="1200">
                          <a:solidFill>
                            <a:srgbClr val="000000"/>
                          </a:solidFill>
                          <a:effectLst/>
                          <a:latin typeface="Times New Roman" panose="02020603050405020304" pitchFamily="18" charset="0"/>
                          <a:cs typeface="Times New Roman" panose="02020603050405020304" pitchFamily="18" charset="0"/>
                        </a:rPr>
                        <a:t>traffic</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IN" sz="1200" b="0" i="0" u="none" strike="noStrike" kern="1200">
                          <a:solidFill>
                            <a:srgbClr val="000000"/>
                          </a:solidFill>
                          <a:effectLst/>
                          <a:latin typeface="Times New Roman" panose="02020603050405020304" pitchFamily="18" charset="0"/>
                          <a:cs typeface="Times New Roman" panose="02020603050405020304" pitchFamily="18" charset="0"/>
                        </a:rPr>
                        <a:t>Traffic condition during delivery</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3406872516"/>
                  </a:ext>
                </a:extLst>
              </a:tr>
              <a:tr h="322596">
                <a:tc>
                  <a:txBody>
                    <a:bodyPr/>
                    <a:lstStyle/>
                    <a:p>
                      <a:pPr marL="0" algn="l" rtl="0" eaLnBrk="1" fontAlgn="ctr" latinLnBrk="0" hangingPunct="1">
                        <a:buNone/>
                      </a:pPr>
                      <a:r>
                        <a:rPr lang="en-IN" sz="1200" b="0" i="0" u="none" strike="noStrike" kern="1200">
                          <a:solidFill>
                            <a:srgbClr val="000000"/>
                          </a:solidFill>
                          <a:effectLst/>
                          <a:latin typeface="Times New Roman" panose="02020603050405020304" pitchFamily="18" charset="0"/>
                          <a:cs typeface="Times New Roman" panose="02020603050405020304" pitchFamily="18" charset="0"/>
                        </a:rPr>
                        <a:t>festival</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US" sz="1200" b="0" i="0" u="none" strike="noStrike" kern="1200" dirty="0">
                          <a:solidFill>
                            <a:srgbClr val="000000"/>
                          </a:solidFill>
                          <a:effectLst/>
                          <a:latin typeface="Times New Roman" panose="02020603050405020304" pitchFamily="18" charset="0"/>
                          <a:cs typeface="Times New Roman" panose="02020603050405020304" pitchFamily="18" charset="0"/>
                        </a:rPr>
                        <a:t>Whether the order was placed on a festival day (Yes/No)</a:t>
                      </a:r>
                      <a:endParaRPr lang="en-IN" sz="1200" b="0" i="0" u="none" strike="noStrike" dirty="0">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449366440"/>
                  </a:ext>
                </a:extLst>
              </a:tr>
              <a:tr h="190719">
                <a:tc>
                  <a:txBody>
                    <a:bodyPr/>
                    <a:lstStyle/>
                    <a:p>
                      <a:pPr marL="0" algn="l" rtl="0" eaLnBrk="1" fontAlgn="ctr" latinLnBrk="0" hangingPunct="1">
                        <a:buNone/>
                      </a:pPr>
                      <a:r>
                        <a:rPr lang="en-IN" sz="1200" b="0" i="0" u="none" strike="noStrike" kern="1200">
                          <a:solidFill>
                            <a:srgbClr val="000000"/>
                          </a:solidFill>
                          <a:effectLst/>
                          <a:latin typeface="Times New Roman" panose="02020603050405020304" pitchFamily="18" charset="0"/>
                          <a:cs typeface="Times New Roman" panose="02020603050405020304" pitchFamily="18" charset="0"/>
                        </a:rPr>
                        <a:t>city_type</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US" sz="1200" b="0" i="0" u="none" strike="noStrike" kern="1200">
                          <a:solidFill>
                            <a:srgbClr val="000000"/>
                          </a:solidFill>
                          <a:effectLst/>
                          <a:latin typeface="Times New Roman" panose="02020603050405020304" pitchFamily="18" charset="0"/>
                          <a:cs typeface="Times New Roman" panose="02020603050405020304" pitchFamily="18" charset="0"/>
                        </a:rPr>
                        <a:t>Classification of city (urban, metropolitan)</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2532071861"/>
                  </a:ext>
                </a:extLst>
              </a:tr>
              <a:tr h="190719">
                <a:tc>
                  <a:txBody>
                    <a:bodyPr/>
                    <a:lstStyle/>
                    <a:p>
                      <a:pPr marL="0" algn="l" rtl="0" eaLnBrk="1" fontAlgn="ctr" latinLnBrk="0" hangingPunct="1">
                        <a:buNone/>
                      </a:pPr>
                      <a:r>
                        <a:rPr lang="en-IN" sz="1200" b="0" i="0" u="none" strike="noStrike" kern="1200">
                          <a:solidFill>
                            <a:srgbClr val="000000"/>
                          </a:solidFill>
                          <a:effectLst/>
                          <a:latin typeface="Times New Roman" panose="02020603050405020304" pitchFamily="18" charset="0"/>
                          <a:cs typeface="Times New Roman" panose="02020603050405020304" pitchFamily="18" charset="0"/>
                        </a:rPr>
                        <a:t>city_name</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US" sz="1200" b="0" i="0" u="none" strike="noStrike" kern="1200" dirty="0">
                          <a:solidFill>
                            <a:srgbClr val="000000"/>
                          </a:solidFill>
                          <a:effectLst/>
                          <a:latin typeface="Times New Roman" panose="02020603050405020304" pitchFamily="18" charset="0"/>
                          <a:cs typeface="Times New Roman" panose="02020603050405020304" pitchFamily="18" charset="0"/>
                        </a:rPr>
                        <a:t>Name/code of the city (BANG, HYD, CHEN, etc.)</a:t>
                      </a:r>
                      <a:endParaRPr lang="en-IN" sz="1200" b="0" i="0" u="none" strike="noStrike" dirty="0">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1936122649"/>
                  </a:ext>
                </a:extLst>
              </a:tr>
              <a:tr h="190719">
                <a:tc>
                  <a:txBody>
                    <a:bodyPr/>
                    <a:lstStyle/>
                    <a:p>
                      <a:pPr marL="0" algn="l" rtl="0" eaLnBrk="1" fontAlgn="ctr" latinLnBrk="0" hangingPunct="1">
                        <a:buNone/>
                      </a:pPr>
                      <a:r>
                        <a:rPr lang="en-IN" sz="1200" b="0" i="0" u="none" strike="noStrike" kern="1200">
                          <a:solidFill>
                            <a:srgbClr val="000000"/>
                          </a:solidFill>
                          <a:effectLst/>
                          <a:latin typeface="Times New Roman" panose="02020603050405020304" pitchFamily="18" charset="0"/>
                          <a:cs typeface="Times New Roman" panose="02020603050405020304" pitchFamily="18" charset="0"/>
                        </a:rPr>
                        <a:t>time_taken</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US" sz="1200" b="0" i="0" u="none" strike="noStrike" kern="1200" dirty="0">
                          <a:solidFill>
                            <a:srgbClr val="000000"/>
                          </a:solidFill>
                          <a:effectLst/>
                          <a:latin typeface="Times New Roman" panose="02020603050405020304" pitchFamily="18" charset="0"/>
                          <a:cs typeface="Times New Roman" panose="02020603050405020304" pitchFamily="18" charset="0"/>
                        </a:rPr>
                        <a:t>Actual delivery time (minutes) — </a:t>
                      </a:r>
                      <a:r>
                        <a:rPr lang="en-US" sz="1200" b="1" i="0" u="none" strike="noStrike" kern="1200" dirty="0">
                          <a:solidFill>
                            <a:srgbClr val="000000"/>
                          </a:solidFill>
                          <a:effectLst/>
                          <a:latin typeface="Times New Roman" panose="02020603050405020304" pitchFamily="18" charset="0"/>
                          <a:cs typeface="Times New Roman" panose="02020603050405020304" pitchFamily="18" charset="0"/>
                        </a:rPr>
                        <a:t>Target Variable</a:t>
                      </a:r>
                      <a:endParaRPr lang="en-IN" sz="1200" b="0" i="0" u="none" strike="noStrike" dirty="0">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1745428837"/>
                  </a:ext>
                </a:extLst>
              </a:tr>
              <a:tr h="322596">
                <a:tc>
                  <a:txBody>
                    <a:bodyPr/>
                    <a:lstStyle/>
                    <a:p>
                      <a:pPr marL="0" algn="l" rtl="0" eaLnBrk="1" fontAlgn="ctr" latinLnBrk="0" hangingPunct="1">
                        <a:buNone/>
                      </a:pPr>
                      <a:r>
                        <a:rPr lang="en-IN" sz="1200" b="0" i="0" u="none" strike="noStrike" kern="1200">
                          <a:solidFill>
                            <a:srgbClr val="000000"/>
                          </a:solidFill>
                          <a:effectLst/>
                          <a:latin typeface="Times New Roman" panose="02020603050405020304" pitchFamily="18" charset="0"/>
                          <a:cs typeface="Times New Roman" panose="02020603050405020304" pitchFamily="18" charset="0"/>
                        </a:rPr>
                        <a:t>distance</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US" sz="1200" b="0" i="0" u="none" strike="noStrike" kern="1200" dirty="0">
                          <a:solidFill>
                            <a:srgbClr val="000000"/>
                          </a:solidFill>
                          <a:effectLst/>
                          <a:latin typeface="Times New Roman" panose="02020603050405020304" pitchFamily="18" charset="0"/>
                          <a:cs typeface="Times New Roman" panose="02020603050405020304" pitchFamily="18" charset="0"/>
                        </a:rPr>
                        <a:t>Distance between restaurant and delivery location (km)</a:t>
                      </a:r>
                      <a:endParaRPr lang="en-IN" sz="1200" b="0" i="0" u="none" strike="noStrike" dirty="0">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914662342"/>
                  </a:ext>
                </a:extLst>
              </a:tr>
              <a:tr h="190719">
                <a:tc>
                  <a:txBody>
                    <a:bodyPr/>
                    <a:lstStyle/>
                    <a:p>
                      <a:pPr marL="0" algn="l" rtl="0" eaLnBrk="1" fontAlgn="ctr" latinLnBrk="0" hangingPunct="1">
                        <a:buNone/>
                      </a:pPr>
                      <a:r>
                        <a:rPr lang="en-IN" sz="1200" b="0" i="0" u="none" strike="noStrike" kern="1200">
                          <a:solidFill>
                            <a:srgbClr val="000000"/>
                          </a:solidFill>
                          <a:effectLst/>
                          <a:latin typeface="Times New Roman" panose="02020603050405020304" pitchFamily="18" charset="0"/>
                          <a:cs typeface="Times New Roman" panose="02020603050405020304" pitchFamily="18" charset="0"/>
                        </a:rPr>
                        <a:t>order_date</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US" sz="1200" b="0" i="0" u="none" strike="noStrike" kern="1200" dirty="0">
                          <a:solidFill>
                            <a:srgbClr val="000000"/>
                          </a:solidFill>
                          <a:effectLst/>
                          <a:latin typeface="Times New Roman" panose="02020603050405020304" pitchFamily="18" charset="0"/>
                          <a:cs typeface="Times New Roman" panose="02020603050405020304" pitchFamily="18" charset="0"/>
                        </a:rPr>
                        <a:t>Date when the order was placed</a:t>
                      </a:r>
                      <a:endParaRPr lang="en-IN" sz="1200" b="0" i="0" u="none" strike="noStrike" dirty="0">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2984728607"/>
                  </a:ext>
                </a:extLst>
              </a:tr>
              <a:tr h="190719">
                <a:tc>
                  <a:txBody>
                    <a:bodyPr/>
                    <a:lstStyle/>
                    <a:p>
                      <a:pPr marL="0" algn="l" rtl="0" eaLnBrk="1" fontAlgn="ctr" latinLnBrk="0" hangingPunct="1">
                        <a:buNone/>
                      </a:pPr>
                      <a:r>
                        <a:rPr lang="en-IN" sz="1200" b="0" i="0" u="none" strike="noStrike" kern="1200">
                          <a:solidFill>
                            <a:srgbClr val="000000"/>
                          </a:solidFill>
                          <a:effectLst/>
                          <a:latin typeface="Times New Roman" panose="02020603050405020304" pitchFamily="18" charset="0"/>
                          <a:cs typeface="Times New Roman" panose="02020603050405020304" pitchFamily="18" charset="0"/>
                        </a:rPr>
                        <a:t>order_day</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IN" sz="1200" b="0" i="0" u="none" strike="noStrike" kern="1200">
                          <a:solidFill>
                            <a:srgbClr val="000000"/>
                          </a:solidFill>
                          <a:effectLst/>
                          <a:latin typeface="Times New Roman" panose="02020603050405020304" pitchFamily="18" charset="0"/>
                          <a:cs typeface="Times New Roman" panose="02020603050405020304" pitchFamily="18" charset="0"/>
                        </a:rPr>
                        <a:t>Day of the month</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4031692348"/>
                  </a:ext>
                </a:extLst>
              </a:tr>
              <a:tr h="190719">
                <a:tc>
                  <a:txBody>
                    <a:bodyPr/>
                    <a:lstStyle/>
                    <a:p>
                      <a:pPr marL="0" algn="l" rtl="0" eaLnBrk="1" fontAlgn="ctr" latinLnBrk="0" hangingPunct="1">
                        <a:buNone/>
                      </a:pPr>
                      <a:r>
                        <a:rPr lang="en-IN" sz="1200" b="0" i="0" u="none" strike="noStrike" kern="1200">
                          <a:solidFill>
                            <a:srgbClr val="000000"/>
                          </a:solidFill>
                          <a:effectLst/>
                          <a:latin typeface="Times New Roman" panose="02020603050405020304" pitchFamily="18" charset="0"/>
                          <a:cs typeface="Times New Roman" panose="02020603050405020304" pitchFamily="18" charset="0"/>
                        </a:rPr>
                        <a:t>order_month</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IN" sz="1200" b="0" i="0" u="none" strike="noStrike" kern="1200">
                          <a:solidFill>
                            <a:srgbClr val="000000"/>
                          </a:solidFill>
                          <a:effectLst/>
                          <a:latin typeface="Times New Roman" panose="02020603050405020304" pitchFamily="18" charset="0"/>
                          <a:cs typeface="Times New Roman" panose="02020603050405020304" pitchFamily="18" charset="0"/>
                        </a:rPr>
                        <a:t>Month of the order</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2983000859"/>
                  </a:ext>
                </a:extLst>
              </a:tr>
              <a:tr h="190719">
                <a:tc>
                  <a:txBody>
                    <a:bodyPr/>
                    <a:lstStyle/>
                    <a:p>
                      <a:pPr marL="0" algn="l" rtl="0" eaLnBrk="1" fontAlgn="ctr" latinLnBrk="0" hangingPunct="1">
                        <a:buNone/>
                      </a:pPr>
                      <a:r>
                        <a:rPr lang="en-IN" sz="1200" b="0" i="0" u="none" strike="noStrike" kern="1200">
                          <a:solidFill>
                            <a:srgbClr val="000000"/>
                          </a:solidFill>
                          <a:effectLst/>
                          <a:latin typeface="Times New Roman" panose="02020603050405020304" pitchFamily="18" charset="0"/>
                          <a:cs typeface="Times New Roman" panose="02020603050405020304" pitchFamily="18" charset="0"/>
                        </a:rPr>
                        <a:t>order_day_of_week</a:t>
                      </a:r>
                      <a:endParaRPr lang="en-IN" sz="1200" b="0" i="0" u="none" strike="noStrike">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tc>
                  <a:txBody>
                    <a:bodyPr/>
                    <a:lstStyle/>
                    <a:p>
                      <a:pPr marL="0" algn="l" rtl="0" eaLnBrk="1" fontAlgn="ctr" latinLnBrk="0" hangingPunct="1">
                        <a:buNone/>
                      </a:pPr>
                      <a:r>
                        <a:rPr lang="en-US" sz="1200" b="0" i="0" u="none" strike="noStrike" kern="1200" dirty="0">
                          <a:solidFill>
                            <a:srgbClr val="000000"/>
                          </a:solidFill>
                          <a:effectLst/>
                          <a:latin typeface="Times New Roman" panose="02020603050405020304" pitchFamily="18" charset="0"/>
                          <a:cs typeface="Times New Roman" panose="02020603050405020304" pitchFamily="18" charset="0"/>
                        </a:rPr>
                        <a:t>Day of the week (Monday–Sunday)</a:t>
                      </a:r>
                      <a:endParaRPr lang="en-IN" sz="1200" b="0" i="0" u="none" strike="noStrike" dirty="0">
                        <a:effectLst/>
                        <a:latin typeface="Times New Roman" panose="02020603050405020304" pitchFamily="18" charset="0"/>
                        <a:cs typeface="Times New Roman" panose="02020603050405020304" pitchFamily="18" charset="0"/>
                      </a:endParaRPr>
                    </a:p>
                  </a:txBody>
                  <a:tcPr marL="32734" marR="32734" marT="16367" marB="16367" anchor="ctr">
                    <a:lnL>
                      <a:noFill/>
                    </a:lnL>
                    <a:lnR>
                      <a:noFill/>
                    </a:lnR>
                    <a:lnT>
                      <a:noFill/>
                    </a:lnT>
                    <a:lnB>
                      <a:noFill/>
                    </a:lnB>
                    <a:noFill/>
                  </a:tcPr>
                </a:tc>
                <a:extLst>
                  <a:ext uri="{0D108BD9-81ED-4DB2-BD59-A6C34878D82A}">
                    <a16:rowId xmlns:a16="http://schemas.microsoft.com/office/drawing/2014/main" val="3901524891"/>
                  </a:ext>
                </a:extLst>
              </a:tr>
            </a:tbl>
          </a:graphicData>
        </a:graphic>
      </p:graphicFrame>
      <p:pic>
        <p:nvPicPr>
          <p:cNvPr id="4" name="Picture 3">
            <a:extLst>
              <a:ext uri="{FF2B5EF4-FFF2-40B4-BE49-F238E27FC236}">
                <a16:creationId xmlns:a16="http://schemas.microsoft.com/office/drawing/2014/main" id="{368892EF-5D81-167F-E2AE-D30E08333481}"/>
              </a:ext>
            </a:extLst>
          </p:cNvPr>
          <p:cNvPicPr>
            <a:picLocks noChangeAspect="1"/>
          </p:cNvPicPr>
          <p:nvPr/>
        </p:nvPicPr>
        <p:blipFill>
          <a:blip r:embed="rId2"/>
          <a:stretch>
            <a:fillRect/>
          </a:stretch>
        </p:blipFill>
        <p:spPr>
          <a:xfrm>
            <a:off x="-195526" y="19666"/>
            <a:ext cx="1748589" cy="894735"/>
          </a:xfrm>
          <a:prstGeom prst="rect">
            <a:avLst/>
          </a:prstGeom>
        </p:spPr>
      </p:pic>
    </p:spTree>
    <p:extLst>
      <p:ext uri="{BB962C8B-B14F-4D97-AF65-F5344CB8AC3E}">
        <p14:creationId xmlns:p14="http://schemas.microsoft.com/office/powerpoint/2010/main" val="4279211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70823"/>
            <a:ext cx="10515600" cy="540360"/>
          </a:xfrm>
        </p:spPr>
        <p:txBody>
          <a:bodyPr>
            <a:noAutofit/>
          </a:bodyPr>
          <a:lstStyle/>
          <a:p>
            <a:pPr algn="ctr"/>
            <a:r>
              <a:rPr lang="en-US" b="1" u="sng" dirty="0">
                <a:solidFill>
                  <a:srgbClr val="FF0000"/>
                </a:solidFill>
                <a:latin typeface="Times New Roman" panose="02020603050405020304" pitchFamily="18" charset="0"/>
                <a:cs typeface="Times New Roman" panose="02020603050405020304" pitchFamily="18" charset="0"/>
              </a:rPr>
              <a:t>Data Cleaning &amp; Preprocessing</a:t>
            </a:r>
          </a:p>
        </p:txBody>
      </p:sp>
      <p:sp>
        <p:nvSpPr>
          <p:cNvPr id="3" name="Text Placeholder 2"/>
          <p:cNvSpPr>
            <a:spLocks noGrp="1"/>
          </p:cNvSpPr>
          <p:nvPr>
            <p:ph type="body" idx="1"/>
          </p:nvPr>
        </p:nvSpPr>
        <p:spPr>
          <a:xfrm>
            <a:off x="0" y="1537398"/>
            <a:ext cx="8299938" cy="5320602"/>
          </a:xfrm>
        </p:spPr>
        <p:txBody>
          <a:bodyPr>
            <a:normAutofit/>
          </a:bodyPr>
          <a:lstStyle/>
          <a:p>
            <a:pPr marL="114300" indent="0">
              <a:buNone/>
            </a:pPr>
            <a:r>
              <a:rPr lang="en-IN" sz="2400" b="1" u="sng" dirty="0">
                <a:solidFill>
                  <a:srgbClr val="000000"/>
                </a:solidFill>
              </a:rPr>
              <a:t>Missing Value Handling</a:t>
            </a:r>
            <a:r>
              <a:rPr lang="en-IN" sz="2400" b="1" dirty="0">
                <a:solidFill>
                  <a:srgbClr val="000000"/>
                </a:solidFill>
              </a:rPr>
              <a:t>: </a:t>
            </a:r>
            <a:r>
              <a:rPr lang="en-IN" sz="1800" dirty="0">
                <a:solidFill>
                  <a:srgbClr val="000000"/>
                </a:solidFill>
              </a:rPr>
              <a:t>Missing values were identified in both numerical and categorical features.</a:t>
            </a:r>
          </a:p>
          <a:p>
            <a:pPr marL="114300" indent="0" algn="just" latinLnBrk="1">
              <a:buNone/>
            </a:pPr>
            <a:r>
              <a:rPr lang="en-IN" sz="2200" b="1" u="sng" dirty="0">
                <a:solidFill>
                  <a:srgbClr val="000000"/>
                </a:solidFill>
              </a:rPr>
              <a:t>Numerical Columns</a:t>
            </a:r>
            <a:r>
              <a:rPr lang="en-IN" sz="2400" dirty="0">
                <a:solidFill>
                  <a:srgbClr val="000000"/>
                </a:solidFill>
              </a:rPr>
              <a:t>: </a:t>
            </a:r>
            <a:r>
              <a:rPr lang="en-IN" sz="1800" dirty="0">
                <a:solidFill>
                  <a:srgbClr val="000000"/>
                </a:solidFill>
              </a:rPr>
              <a:t>['age', 'ratings', '</a:t>
            </a:r>
            <a:r>
              <a:rPr lang="en-IN" sz="1800" dirty="0" err="1">
                <a:solidFill>
                  <a:srgbClr val="000000"/>
                </a:solidFill>
              </a:rPr>
              <a:t>vehicle_condition</a:t>
            </a:r>
            <a:r>
              <a:rPr lang="en-IN" sz="1800" dirty="0">
                <a:solidFill>
                  <a:srgbClr val="000000"/>
                </a:solidFill>
              </a:rPr>
              <a:t>', 'multiple_deliveries','</a:t>
            </a:r>
            <a:r>
              <a:rPr lang="en-IN" sz="1800" dirty="0" err="1">
                <a:solidFill>
                  <a:srgbClr val="000000"/>
                </a:solidFill>
              </a:rPr>
              <a:t>order_day</a:t>
            </a:r>
            <a:r>
              <a:rPr lang="en-IN" sz="1800" dirty="0">
                <a:solidFill>
                  <a:srgbClr val="000000"/>
                </a:solidFill>
              </a:rPr>
              <a:t>', '</a:t>
            </a:r>
            <a:r>
              <a:rPr lang="en-IN" sz="1800" dirty="0" err="1">
                <a:solidFill>
                  <a:srgbClr val="000000"/>
                </a:solidFill>
              </a:rPr>
              <a:t>order_month</a:t>
            </a:r>
            <a:r>
              <a:rPr lang="en-IN" sz="1800" dirty="0">
                <a:solidFill>
                  <a:srgbClr val="000000"/>
                </a:solidFill>
              </a:rPr>
              <a:t>', '</a:t>
            </a:r>
            <a:r>
              <a:rPr lang="en-IN" sz="1800" dirty="0" err="1">
                <a:solidFill>
                  <a:srgbClr val="000000"/>
                </a:solidFill>
              </a:rPr>
              <a:t>is_weekend</a:t>
            </a:r>
            <a:r>
              <a:rPr lang="en-IN" sz="1800" dirty="0">
                <a:solidFill>
                  <a:srgbClr val="000000"/>
                </a:solidFill>
              </a:rPr>
              <a:t>', 'pickup_time_minutes','</a:t>
            </a:r>
            <a:r>
              <a:rPr lang="en-IN" sz="1800" dirty="0" err="1">
                <a:solidFill>
                  <a:srgbClr val="000000"/>
                </a:solidFill>
              </a:rPr>
              <a:t>order_time_hour</a:t>
            </a:r>
            <a:r>
              <a:rPr lang="en-IN" sz="1800" dirty="0">
                <a:solidFill>
                  <a:srgbClr val="000000"/>
                </a:solidFill>
              </a:rPr>
              <a:t>', 'distance', '</a:t>
            </a:r>
            <a:r>
              <a:rPr lang="en-IN" sz="1800" dirty="0" err="1">
                <a:solidFill>
                  <a:srgbClr val="000000"/>
                </a:solidFill>
              </a:rPr>
              <a:t>Peak_Hour</a:t>
            </a:r>
            <a:r>
              <a:rPr lang="en-IN" sz="1800" dirty="0">
                <a:solidFill>
                  <a:srgbClr val="000000"/>
                </a:solidFill>
              </a:rPr>
              <a:t>’]</a:t>
            </a:r>
          </a:p>
          <a:p>
            <a:r>
              <a:rPr lang="en-IN" sz="1800" b="1" dirty="0">
                <a:solidFill>
                  <a:srgbClr val="000000"/>
                </a:solidFill>
              </a:rPr>
              <a:t>Technique Used:</a:t>
            </a:r>
            <a:r>
              <a:rPr lang="en-IN" sz="1800" dirty="0">
                <a:solidFill>
                  <a:srgbClr val="000000"/>
                </a:solidFill>
              </a:rPr>
              <a:t> Median Imputation</a:t>
            </a:r>
          </a:p>
          <a:p>
            <a:r>
              <a:rPr lang="en-IN" sz="1800" b="1" dirty="0">
                <a:solidFill>
                  <a:srgbClr val="000000"/>
                </a:solidFill>
              </a:rPr>
              <a:t>Reason:</a:t>
            </a:r>
            <a:r>
              <a:rPr lang="en-IN" sz="1800" dirty="0">
                <a:solidFill>
                  <a:srgbClr val="000000"/>
                </a:solidFill>
              </a:rPr>
              <a:t> The median is robust to outliers and provides reliable values for numerical data.</a:t>
            </a:r>
            <a:endParaRPr lang="en-US" sz="2200" dirty="0">
              <a:latin typeface="Californian FB" panose="0207040306080B030204" pitchFamily="18" charset="0"/>
            </a:endParaRPr>
          </a:p>
          <a:p>
            <a:pPr marL="114300" indent="0" algn="just" latinLnBrk="1">
              <a:buNone/>
            </a:pPr>
            <a:r>
              <a:rPr lang="en-IN" sz="2200" b="1" u="sng" dirty="0">
                <a:solidFill>
                  <a:srgbClr val="000000"/>
                </a:solidFill>
              </a:rPr>
              <a:t>Categorical Columns</a:t>
            </a:r>
            <a:r>
              <a:rPr lang="en-IN" sz="1800" dirty="0">
                <a:solidFill>
                  <a:srgbClr val="000000"/>
                </a:solidFill>
              </a:rPr>
              <a:t>: ['weather', 'traffic', '</a:t>
            </a:r>
            <a:r>
              <a:rPr lang="en-IN" sz="1800" dirty="0" err="1">
                <a:solidFill>
                  <a:srgbClr val="000000"/>
                </a:solidFill>
              </a:rPr>
              <a:t>type_of_order</a:t>
            </a:r>
            <a:r>
              <a:rPr lang="en-IN" sz="1800" dirty="0">
                <a:solidFill>
                  <a:srgbClr val="000000"/>
                </a:solidFill>
              </a:rPr>
              <a:t>', '</a:t>
            </a:r>
            <a:r>
              <a:rPr lang="en-IN" sz="1800" dirty="0" err="1">
                <a:solidFill>
                  <a:srgbClr val="000000"/>
                </a:solidFill>
              </a:rPr>
              <a:t>type_of_vehicle</a:t>
            </a:r>
            <a:r>
              <a:rPr lang="en-IN" sz="1800" dirty="0">
                <a:solidFill>
                  <a:srgbClr val="000000"/>
                </a:solidFill>
              </a:rPr>
              <a:t>', 'festival','</a:t>
            </a:r>
            <a:r>
              <a:rPr lang="en-IN" sz="1800" dirty="0" err="1">
                <a:solidFill>
                  <a:srgbClr val="000000"/>
                </a:solidFill>
              </a:rPr>
              <a:t>city_type</a:t>
            </a:r>
            <a:r>
              <a:rPr lang="en-IN" sz="1800" dirty="0">
                <a:solidFill>
                  <a:srgbClr val="000000"/>
                </a:solidFill>
              </a:rPr>
              <a:t>', '</a:t>
            </a:r>
            <a:r>
              <a:rPr lang="en-IN" sz="1800" dirty="0" err="1">
                <a:solidFill>
                  <a:srgbClr val="000000"/>
                </a:solidFill>
              </a:rPr>
              <a:t>city_name</a:t>
            </a:r>
            <a:r>
              <a:rPr lang="en-IN" sz="1800" dirty="0">
                <a:solidFill>
                  <a:srgbClr val="000000"/>
                </a:solidFill>
              </a:rPr>
              <a:t>', '</a:t>
            </a:r>
            <a:r>
              <a:rPr lang="en-IN" sz="1800" dirty="0" err="1">
                <a:solidFill>
                  <a:srgbClr val="000000"/>
                </a:solidFill>
              </a:rPr>
              <a:t>order_day_of_week</a:t>
            </a:r>
            <a:r>
              <a:rPr lang="en-IN" sz="1800" dirty="0">
                <a:solidFill>
                  <a:srgbClr val="000000"/>
                </a:solidFill>
              </a:rPr>
              <a:t>', 'order_time_of_day','</a:t>
            </a:r>
            <a:r>
              <a:rPr lang="en-IN" sz="1800" dirty="0" err="1">
                <a:solidFill>
                  <a:srgbClr val="000000"/>
                </a:solidFill>
              </a:rPr>
              <a:t>Delivery_Load</a:t>
            </a:r>
            <a:r>
              <a:rPr lang="en-IN" sz="1800" dirty="0">
                <a:solidFill>
                  <a:srgbClr val="000000"/>
                </a:solidFill>
              </a:rPr>
              <a:t>’]</a:t>
            </a:r>
          </a:p>
          <a:p>
            <a:r>
              <a:rPr lang="en-IN" sz="1800" b="1" dirty="0">
                <a:solidFill>
                  <a:srgbClr val="000000"/>
                </a:solidFill>
              </a:rPr>
              <a:t>Technique Used:</a:t>
            </a:r>
            <a:r>
              <a:rPr lang="en-IN" sz="1800" dirty="0">
                <a:solidFill>
                  <a:srgbClr val="000000"/>
                </a:solidFill>
              </a:rPr>
              <a:t> Most Frequent (Mode) Imputation</a:t>
            </a:r>
          </a:p>
          <a:p>
            <a:r>
              <a:rPr lang="en-IN" sz="1800" b="1" dirty="0">
                <a:solidFill>
                  <a:srgbClr val="000000"/>
                </a:solidFill>
              </a:rPr>
              <a:t>Reason:</a:t>
            </a:r>
            <a:r>
              <a:rPr lang="en-IN" sz="1800" dirty="0">
                <a:solidFill>
                  <a:srgbClr val="000000"/>
                </a:solidFill>
              </a:rPr>
              <a:t> Replacing missing categorical values with the most common category preserves the distribution of the data.</a:t>
            </a:r>
          </a:p>
          <a:p>
            <a:pPr marL="114300" indent="0">
              <a:buNone/>
            </a:pPr>
            <a:endParaRPr lang="en-IN" sz="1800" dirty="0"/>
          </a:p>
          <a:p>
            <a:pPr algn="just" latinLnBrk="1"/>
            <a:endParaRPr lang="en-IN" sz="1800" dirty="0"/>
          </a:p>
        </p:txBody>
      </p:sp>
      <p:pic>
        <p:nvPicPr>
          <p:cNvPr id="17" name="Picture 16">
            <a:extLst>
              <a:ext uri="{FF2B5EF4-FFF2-40B4-BE49-F238E27FC236}">
                <a16:creationId xmlns:a16="http://schemas.microsoft.com/office/drawing/2014/main" id="{43B7C884-8876-F76A-F45D-D4915454A6D6}"/>
              </a:ext>
            </a:extLst>
          </p:cNvPr>
          <p:cNvPicPr>
            <a:picLocks noChangeAspect="1"/>
          </p:cNvPicPr>
          <p:nvPr/>
        </p:nvPicPr>
        <p:blipFill>
          <a:blip r:embed="rId2"/>
          <a:stretch>
            <a:fillRect/>
          </a:stretch>
        </p:blipFill>
        <p:spPr>
          <a:xfrm>
            <a:off x="8862645" y="1055034"/>
            <a:ext cx="2984361" cy="4923735"/>
          </a:xfrm>
          <a:prstGeom prst="rect">
            <a:avLst/>
          </a:prstGeom>
        </p:spPr>
      </p:pic>
      <p:pic>
        <p:nvPicPr>
          <p:cNvPr id="5" name="Picture 4">
            <a:extLst>
              <a:ext uri="{FF2B5EF4-FFF2-40B4-BE49-F238E27FC236}">
                <a16:creationId xmlns:a16="http://schemas.microsoft.com/office/drawing/2014/main" id="{4A573132-3BAB-DC39-AF50-FC8AB154C6E8}"/>
              </a:ext>
            </a:extLst>
          </p:cNvPr>
          <p:cNvPicPr>
            <a:picLocks noChangeAspect="1"/>
          </p:cNvPicPr>
          <p:nvPr/>
        </p:nvPicPr>
        <p:blipFill>
          <a:blip r:embed="rId3"/>
          <a:stretch>
            <a:fillRect/>
          </a:stretch>
        </p:blipFill>
        <p:spPr>
          <a:xfrm>
            <a:off x="-168378" y="52144"/>
            <a:ext cx="1748589" cy="894735"/>
          </a:xfrm>
          <a:prstGeom prst="rect">
            <a:avLst/>
          </a:prstGeom>
        </p:spPr>
      </p:pic>
    </p:spTree>
    <p:extLst>
      <p:ext uri="{BB962C8B-B14F-4D97-AF65-F5344CB8AC3E}">
        <p14:creationId xmlns:p14="http://schemas.microsoft.com/office/powerpoint/2010/main" val="741884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7B9ED15-5587-A519-36D9-2B6CD3C214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465AA1-E656-132C-980D-F34CC43B0F0D}"/>
              </a:ext>
            </a:extLst>
          </p:cNvPr>
          <p:cNvSpPr>
            <a:spLocks noGrp="1"/>
          </p:cNvSpPr>
          <p:nvPr>
            <p:ph type="title"/>
          </p:nvPr>
        </p:nvSpPr>
        <p:spPr>
          <a:xfrm>
            <a:off x="838200" y="170823"/>
            <a:ext cx="10515600" cy="540360"/>
          </a:xfrm>
        </p:spPr>
        <p:txBody>
          <a:bodyPr>
            <a:noAutofit/>
          </a:bodyPr>
          <a:lstStyle/>
          <a:p>
            <a:pPr algn="ctr"/>
            <a:r>
              <a:rPr lang="en-US" b="1" u="sng" dirty="0">
                <a:solidFill>
                  <a:srgbClr val="FF0000"/>
                </a:solidFill>
                <a:latin typeface="Times New Roman" panose="02020603050405020304" pitchFamily="18" charset="0"/>
                <a:cs typeface="Times New Roman" panose="02020603050405020304" pitchFamily="18" charset="0"/>
              </a:rPr>
              <a:t>Data Cleaning &amp; Pre-processing</a:t>
            </a:r>
          </a:p>
        </p:txBody>
      </p:sp>
      <p:sp>
        <p:nvSpPr>
          <p:cNvPr id="3" name="Text Placeholder 2">
            <a:extLst>
              <a:ext uri="{FF2B5EF4-FFF2-40B4-BE49-F238E27FC236}">
                <a16:creationId xmlns:a16="http://schemas.microsoft.com/office/drawing/2014/main" id="{D8A816E8-E29F-51E9-8079-AAD15D225236}"/>
              </a:ext>
            </a:extLst>
          </p:cNvPr>
          <p:cNvSpPr>
            <a:spLocks noGrp="1"/>
          </p:cNvSpPr>
          <p:nvPr>
            <p:ph type="body" idx="1"/>
          </p:nvPr>
        </p:nvSpPr>
        <p:spPr>
          <a:xfrm>
            <a:off x="0" y="1668026"/>
            <a:ext cx="12192000" cy="5189974"/>
          </a:xfrm>
        </p:spPr>
        <p:txBody>
          <a:bodyPr>
            <a:normAutofit/>
          </a:bodyPr>
          <a:lstStyle/>
          <a:p>
            <a:pPr marL="114300" indent="0">
              <a:buNone/>
            </a:pPr>
            <a:r>
              <a:rPr lang="en-IN" sz="2000" b="1" u="sng" dirty="0">
                <a:solidFill>
                  <a:srgbClr val="000000"/>
                </a:solidFill>
                <a:latin typeface="Times New Roman" panose="02020603050405020304" pitchFamily="18" charset="0"/>
                <a:cs typeface="Times New Roman" panose="02020603050405020304" pitchFamily="18" charset="0"/>
              </a:rPr>
              <a:t>Duplicate Values: </a:t>
            </a:r>
            <a:r>
              <a:rPr lang="en-IN" sz="2000" dirty="0">
                <a:solidFill>
                  <a:srgbClr val="000000"/>
                </a:solidFill>
                <a:latin typeface="Times New Roman" panose="02020603050405020304" pitchFamily="18" charset="0"/>
                <a:cs typeface="Times New Roman" panose="02020603050405020304" pitchFamily="18" charset="0"/>
              </a:rPr>
              <a:t>No Duplicates values detected.</a:t>
            </a:r>
          </a:p>
          <a:p>
            <a:pPr marL="114300" indent="0">
              <a:buNone/>
            </a:pPr>
            <a:r>
              <a:rPr lang="en-IN" sz="2000" b="1" u="sng" dirty="0">
                <a:solidFill>
                  <a:srgbClr val="000000"/>
                </a:solidFill>
                <a:latin typeface="Times New Roman" panose="02020603050405020304" pitchFamily="18" charset="0"/>
                <a:cs typeface="Times New Roman" panose="02020603050405020304" pitchFamily="18" charset="0"/>
              </a:rPr>
              <a:t>Outlier Handling</a:t>
            </a:r>
            <a:r>
              <a:rPr lang="en-IN" sz="2000" dirty="0">
                <a:solidFill>
                  <a:srgbClr val="000000"/>
                </a:solidFill>
                <a:latin typeface="Times New Roman" panose="02020603050405020304" pitchFamily="18" charset="0"/>
                <a:cs typeface="Times New Roman" panose="02020603050405020304" pitchFamily="18" charset="0"/>
              </a:rPr>
              <a:t>: Outliers were </a:t>
            </a:r>
            <a:r>
              <a:rPr lang="en-IN" sz="2000" dirty="0" err="1">
                <a:solidFill>
                  <a:srgbClr val="000000"/>
                </a:solidFill>
                <a:latin typeface="Times New Roman" panose="02020603050405020304" pitchFamily="18" charset="0"/>
                <a:cs typeface="Times New Roman" panose="02020603050405020304" pitchFamily="18" charset="0"/>
              </a:rPr>
              <a:t>analyzed</a:t>
            </a:r>
            <a:r>
              <a:rPr lang="en-IN" sz="2000" dirty="0">
                <a:solidFill>
                  <a:srgbClr val="000000"/>
                </a:solidFill>
                <a:latin typeface="Times New Roman" panose="02020603050405020304" pitchFamily="18" charset="0"/>
                <a:cs typeface="Times New Roman" panose="02020603050405020304" pitchFamily="18" charset="0"/>
              </a:rPr>
              <a:t> in the following numerical columns: [age, ratings, </a:t>
            </a:r>
            <a:r>
              <a:rPr lang="en-IN" sz="2000" dirty="0" err="1">
                <a:solidFill>
                  <a:srgbClr val="000000"/>
                </a:solidFill>
                <a:latin typeface="Times New Roman" panose="02020603050405020304" pitchFamily="18" charset="0"/>
                <a:cs typeface="Times New Roman" panose="02020603050405020304" pitchFamily="18" charset="0"/>
              </a:rPr>
              <a:t>vehicle_condition</a:t>
            </a:r>
            <a:r>
              <a:rPr lang="en-IN" sz="2000" dirty="0">
                <a:solidFill>
                  <a:srgbClr val="000000"/>
                </a:solidFill>
                <a:latin typeface="Times New Roman" panose="02020603050405020304" pitchFamily="18" charset="0"/>
                <a:cs typeface="Times New Roman" panose="02020603050405020304" pitchFamily="18" charset="0"/>
              </a:rPr>
              <a:t>, </a:t>
            </a:r>
            <a:r>
              <a:rPr lang="en-IN" sz="2000" dirty="0" err="1">
                <a:solidFill>
                  <a:srgbClr val="000000"/>
                </a:solidFill>
                <a:latin typeface="Times New Roman" panose="02020603050405020304" pitchFamily="18" charset="0"/>
                <a:cs typeface="Times New Roman" panose="02020603050405020304" pitchFamily="18" charset="0"/>
              </a:rPr>
              <a:t>multiple_deliveries</a:t>
            </a:r>
            <a:r>
              <a:rPr lang="en-IN" sz="2000" dirty="0">
                <a:solidFill>
                  <a:srgbClr val="000000"/>
                </a:solidFill>
                <a:latin typeface="Times New Roman" panose="02020603050405020304" pitchFamily="18" charset="0"/>
                <a:cs typeface="Times New Roman" panose="02020603050405020304" pitchFamily="18" charset="0"/>
              </a:rPr>
              <a:t>, </a:t>
            </a:r>
            <a:r>
              <a:rPr lang="en-IN" sz="2000" dirty="0" err="1">
                <a:solidFill>
                  <a:srgbClr val="000000"/>
                </a:solidFill>
                <a:latin typeface="Times New Roman" panose="02020603050405020304" pitchFamily="18" charset="0"/>
                <a:cs typeface="Times New Roman" panose="02020603050405020304" pitchFamily="18" charset="0"/>
              </a:rPr>
              <a:t>pickup_time_minutes</a:t>
            </a:r>
            <a:r>
              <a:rPr lang="en-IN" sz="2000" dirty="0">
                <a:solidFill>
                  <a:srgbClr val="000000"/>
                </a:solidFill>
                <a:latin typeface="Times New Roman" panose="02020603050405020304" pitchFamily="18" charset="0"/>
                <a:cs typeface="Times New Roman" panose="02020603050405020304" pitchFamily="18" charset="0"/>
              </a:rPr>
              <a:t>, distance].</a:t>
            </a:r>
          </a:p>
          <a:p>
            <a:r>
              <a:rPr lang="en-IN" sz="2000" b="1" dirty="0">
                <a:solidFill>
                  <a:srgbClr val="000000"/>
                </a:solidFill>
                <a:latin typeface="Times New Roman" panose="02020603050405020304" pitchFamily="18" charset="0"/>
                <a:cs typeface="Times New Roman" panose="02020603050405020304" pitchFamily="18" charset="0"/>
              </a:rPr>
              <a:t>Method Used: </a:t>
            </a:r>
            <a:r>
              <a:rPr lang="en-IN" sz="2000" dirty="0">
                <a:solidFill>
                  <a:srgbClr val="000000"/>
                </a:solidFill>
                <a:latin typeface="Times New Roman" panose="02020603050405020304" pitchFamily="18" charset="0"/>
                <a:cs typeface="Times New Roman" panose="02020603050405020304" pitchFamily="18" charset="0"/>
              </a:rPr>
              <a:t>Box Plot Visualization Analysis </a:t>
            </a:r>
          </a:p>
          <a:p>
            <a:r>
              <a:rPr lang="en-IN" sz="2000" b="1" dirty="0">
                <a:solidFill>
                  <a:srgbClr val="000000"/>
                </a:solidFill>
                <a:latin typeface="Times New Roman" panose="02020603050405020304" pitchFamily="18" charset="0"/>
                <a:cs typeface="Times New Roman" panose="02020603050405020304" pitchFamily="18" charset="0"/>
              </a:rPr>
              <a:t>Treatment: </a:t>
            </a:r>
            <a:r>
              <a:rPr lang="en-IN" sz="2000" dirty="0">
                <a:solidFill>
                  <a:srgbClr val="000000"/>
                </a:solidFill>
                <a:latin typeface="Times New Roman" panose="02020603050405020304" pitchFamily="18" charset="0"/>
                <a:cs typeface="Times New Roman" panose="02020603050405020304" pitchFamily="18" charset="0"/>
              </a:rPr>
              <a:t>Extreme outliers were handled during preprocessing to reduce their impact on model performance.</a:t>
            </a:r>
          </a:p>
          <a:p>
            <a:pPr marL="114300" indent="0">
              <a:buNone/>
            </a:pPr>
            <a:r>
              <a:rPr lang="en-IN" sz="2000" b="1" u="sng" dirty="0">
                <a:solidFill>
                  <a:srgbClr val="000000"/>
                </a:solidFill>
                <a:latin typeface="Times New Roman" panose="02020603050405020304" pitchFamily="18" charset="0"/>
                <a:cs typeface="Times New Roman" panose="02020603050405020304" pitchFamily="18" charset="0"/>
              </a:rPr>
              <a:t>Feature Engineering: </a:t>
            </a:r>
            <a:r>
              <a:rPr lang="en-IN" sz="2000" dirty="0">
                <a:solidFill>
                  <a:srgbClr val="000000"/>
                </a:solidFill>
                <a:latin typeface="Times New Roman" panose="02020603050405020304" pitchFamily="18" charset="0"/>
                <a:cs typeface="Times New Roman" panose="02020603050405020304" pitchFamily="18" charset="0"/>
              </a:rPr>
              <a:t>Feature engineering was performed to create additional features that improve the model's ability to learn delivery patterns.</a:t>
            </a:r>
          </a:p>
          <a:p>
            <a:r>
              <a:rPr lang="en-IN" sz="2000" b="1" dirty="0">
                <a:solidFill>
                  <a:srgbClr val="000000"/>
                </a:solidFill>
                <a:latin typeface="Times New Roman" panose="02020603050405020304" pitchFamily="18" charset="0"/>
                <a:cs typeface="Times New Roman" panose="02020603050405020304" pitchFamily="18" charset="0"/>
              </a:rPr>
              <a:t>1. </a:t>
            </a:r>
            <a:r>
              <a:rPr lang="en-IN" sz="2000" b="1" dirty="0" err="1">
                <a:solidFill>
                  <a:srgbClr val="000000"/>
                </a:solidFill>
                <a:latin typeface="Times New Roman" panose="02020603050405020304" pitchFamily="18" charset="0"/>
                <a:cs typeface="Times New Roman" panose="02020603050405020304" pitchFamily="18" charset="0"/>
              </a:rPr>
              <a:t>Peak_Hour</a:t>
            </a:r>
            <a:r>
              <a:rPr lang="en-IN" sz="2000" b="1" dirty="0">
                <a:solidFill>
                  <a:srgbClr val="000000"/>
                </a:solidFill>
                <a:latin typeface="Times New Roman" panose="02020603050405020304" pitchFamily="18" charset="0"/>
                <a:cs typeface="Times New Roman" panose="02020603050405020304" pitchFamily="18" charset="0"/>
              </a:rPr>
              <a:t>: </a:t>
            </a:r>
            <a:r>
              <a:rPr lang="en-IN" sz="2000" dirty="0">
                <a:solidFill>
                  <a:srgbClr val="000000"/>
                </a:solidFill>
                <a:latin typeface="Times New Roman" panose="02020603050405020304" pitchFamily="18" charset="0"/>
                <a:cs typeface="Times New Roman" panose="02020603050405020304" pitchFamily="18" charset="0"/>
              </a:rPr>
              <a:t>Identify whether an order was placed during peak delivery hours.</a:t>
            </a:r>
          </a:p>
          <a:p>
            <a:r>
              <a:rPr lang="en-IN" sz="2000" b="1" dirty="0">
                <a:solidFill>
                  <a:srgbClr val="000000"/>
                </a:solidFill>
                <a:latin typeface="Times New Roman" panose="02020603050405020304" pitchFamily="18" charset="0"/>
                <a:cs typeface="Times New Roman" panose="02020603050405020304" pitchFamily="18" charset="0"/>
              </a:rPr>
              <a:t>2. </a:t>
            </a:r>
            <a:r>
              <a:rPr lang="en-IN" sz="2000" b="1" dirty="0" err="1">
                <a:solidFill>
                  <a:srgbClr val="000000"/>
                </a:solidFill>
                <a:latin typeface="Times New Roman" panose="02020603050405020304" pitchFamily="18" charset="0"/>
                <a:cs typeface="Times New Roman" panose="02020603050405020304" pitchFamily="18" charset="0"/>
              </a:rPr>
              <a:t>Delivery_Load</a:t>
            </a:r>
            <a:r>
              <a:rPr lang="en-IN" sz="2000" b="1" dirty="0">
                <a:solidFill>
                  <a:srgbClr val="000000"/>
                </a:solidFill>
                <a:latin typeface="Times New Roman" panose="02020603050405020304" pitchFamily="18" charset="0"/>
                <a:cs typeface="Times New Roman" panose="02020603050405020304" pitchFamily="18" charset="0"/>
              </a:rPr>
              <a:t>: </a:t>
            </a:r>
            <a:r>
              <a:rPr lang="en-IN" sz="2000" dirty="0">
                <a:solidFill>
                  <a:srgbClr val="000000"/>
                </a:solidFill>
                <a:latin typeface="Times New Roman" panose="02020603050405020304" pitchFamily="18" charset="0"/>
                <a:cs typeface="Times New Roman" panose="02020603050405020304" pitchFamily="18" charset="0"/>
              </a:rPr>
              <a:t>Represent the delivery partner's workload.</a:t>
            </a:r>
          </a:p>
          <a:p>
            <a:pPr marL="114300" indent="0">
              <a:buNone/>
            </a:pPr>
            <a:r>
              <a:rPr lang="en-IN" sz="2000" b="1" u="sng" dirty="0">
                <a:solidFill>
                  <a:srgbClr val="000000"/>
                </a:solidFill>
                <a:latin typeface="Times New Roman" panose="02020603050405020304" pitchFamily="18" charset="0"/>
                <a:cs typeface="Times New Roman" panose="02020603050405020304" pitchFamily="18" charset="0"/>
              </a:rPr>
              <a:t>Feature Scaling:  </a:t>
            </a:r>
            <a:r>
              <a:rPr lang="en-IN" sz="2000" dirty="0">
                <a:solidFill>
                  <a:srgbClr val="000000"/>
                </a:solidFill>
                <a:latin typeface="Times New Roman" panose="02020603050405020304" pitchFamily="18" charset="0"/>
                <a:cs typeface="Times New Roman" panose="02020603050405020304" pitchFamily="18" charset="0"/>
              </a:rPr>
              <a:t>Applied </a:t>
            </a:r>
            <a:r>
              <a:rPr lang="en-IN" sz="2000" b="1" dirty="0" err="1">
                <a:solidFill>
                  <a:srgbClr val="000000"/>
                </a:solidFill>
                <a:latin typeface="Times New Roman" panose="02020603050405020304" pitchFamily="18" charset="0"/>
                <a:cs typeface="Times New Roman" panose="02020603050405020304" pitchFamily="18" charset="0"/>
              </a:rPr>
              <a:t>StandardScaler</a:t>
            </a:r>
            <a:r>
              <a:rPr lang="en-IN" sz="2000" dirty="0">
                <a:solidFill>
                  <a:srgbClr val="000000"/>
                </a:solidFill>
                <a:latin typeface="Times New Roman" panose="02020603050405020304" pitchFamily="18" charset="0"/>
                <a:cs typeface="Times New Roman" panose="02020603050405020304" pitchFamily="18" charset="0"/>
              </a:rPr>
              <a:t> to normalize numerical features and improve model performance.</a:t>
            </a:r>
          </a:p>
          <a:p>
            <a:pPr marL="114300" indent="0">
              <a:buNone/>
            </a:pPr>
            <a:endParaRPr lang="en-IN" sz="1800" dirty="0"/>
          </a:p>
        </p:txBody>
      </p:sp>
      <p:pic>
        <p:nvPicPr>
          <p:cNvPr id="5" name="Picture 4">
            <a:extLst>
              <a:ext uri="{FF2B5EF4-FFF2-40B4-BE49-F238E27FC236}">
                <a16:creationId xmlns:a16="http://schemas.microsoft.com/office/drawing/2014/main" id="{3DDAFBAB-BF48-6CAC-8076-D1FE317FB627}"/>
              </a:ext>
            </a:extLst>
          </p:cNvPr>
          <p:cNvPicPr>
            <a:picLocks noChangeAspect="1"/>
          </p:cNvPicPr>
          <p:nvPr/>
        </p:nvPicPr>
        <p:blipFill>
          <a:blip r:embed="rId2"/>
          <a:stretch>
            <a:fillRect/>
          </a:stretch>
        </p:blipFill>
        <p:spPr>
          <a:xfrm>
            <a:off x="-158546" y="139878"/>
            <a:ext cx="1748589" cy="894735"/>
          </a:xfrm>
          <a:prstGeom prst="rect">
            <a:avLst/>
          </a:prstGeom>
        </p:spPr>
      </p:pic>
    </p:spTree>
    <p:extLst>
      <p:ext uri="{BB962C8B-B14F-4D97-AF65-F5344CB8AC3E}">
        <p14:creationId xmlns:p14="http://schemas.microsoft.com/office/powerpoint/2010/main" val="3483262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91B6241-DE72-FD8E-D158-70F3AE7190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129F79-C5FE-6FF4-48FC-4588AC64A392}"/>
              </a:ext>
            </a:extLst>
          </p:cNvPr>
          <p:cNvSpPr>
            <a:spLocks noGrp="1"/>
          </p:cNvSpPr>
          <p:nvPr>
            <p:ph type="title"/>
          </p:nvPr>
        </p:nvSpPr>
        <p:spPr>
          <a:xfrm>
            <a:off x="838200" y="170823"/>
            <a:ext cx="10515600" cy="540360"/>
          </a:xfrm>
        </p:spPr>
        <p:txBody>
          <a:bodyPr>
            <a:noAutofit/>
          </a:bodyPr>
          <a:lstStyle/>
          <a:p>
            <a:pPr algn="ctr"/>
            <a:r>
              <a:rPr lang="en-US" b="1" u="sng" dirty="0">
                <a:solidFill>
                  <a:srgbClr val="FF0000"/>
                </a:solidFill>
                <a:latin typeface="Times New Roman" panose="02020603050405020304" pitchFamily="18" charset="0"/>
                <a:cs typeface="Times New Roman" panose="02020603050405020304" pitchFamily="18" charset="0"/>
              </a:rPr>
              <a:t>Data Cleaning &amp; Pre-processing</a:t>
            </a:r>
          </a:p>
        </p:txBody>
      </p:sp>
      <p:sp>
        <p:nvSpPr>
          <p:cNvPr id="3" name="Text Placeholder 2">
            <a:extLst>
              <a:ext uri="{FF2B5EF4-FFF2-40B4-BE49-F238E27FC236}">
                <a16:creationId xmlns:a16="http://schemas.microsoft.com/office/drawing/2014/main" id="{F8C458E2-AB98-4120-2833-B469A816B166}"/>
              </a:ext>
            </a:extLst>
          </p:cNvPr>
          <p:cNvSpPr>
            <a:spLocks noGrp="1"/>
          </p:cNvSpPr>
          <p:nvPr>
            <p:ph type="body" idx="1"/>
          </p:nvPr>
        </p:nvSpPr>
        <p:spPr>
          <a:xfrm>
            <a:off x="1" y="1537398"/>
            <a:ext cx="8973178" cy="5320602"/>
          </a:xfrm>
        </p:spPr>
        <p:txBody>
          <a:bodyPr>
            <a:normAutofit fontScale="92500" lnSpcReduction="10000"/>
          </a:bodyPr>
          <a:lstStyle/>
          <a:p>
            <a:pPr marL="114300" indent="0">
              <a:buNone/>
            </a:pPr>
            <a:r>
              <a:rPr lang="en-IN" sz="2000" b="1" u="sng" dirty="0">
                <a:solidFill>
                  <a:srgbClr val="000000"/>
                </a:solidFill>
                <a:latin typeface="Times New Roman" panose="02020603050405020304" pitchFamily="18" charset="0"/>
                <a:cs typeface="Times New Roman" panose="02020603050405020304" pitchFamily="18" charset="0"/>
              </a:rPr>
              <a:t>Feature Selection:</a:t>
            </a:r>
          </a:p>
          <a:p>
            <a:r>
              <a:rPr lang="en-IN" sz="2000" b="1" dirty="0">
                <a:solidFill>
                  <a:srgbClr val="000000"/>
                </a:solidFill>
                <a:latin typeface="Times New Roman" panose="02020603050405020304" pitchFamily="18" charset="0"/>
                <a:cs typeface="Times New Roman" panose="02020603050405020304" pitchFamily="18" charset="0"/>
              </a:rPr>
              <a:t>Technique Used</a:t>
            </a:r>
            <a:r>
              <a:rPr lang="en-IN" sz="2000" dirty="0">
                <a:solidFill>
                  <a:srgbClr val="000000"/>
                </a:solidFill>
                <a:latin typeface="Times New Roman" panose="02020603050405020304" pitchFamily="18" charset="0"/>
                <a:cs typeface="Times New Roman" panose="02020603050405020304" pitchFamily="18" charset="0"/>
              </a:rPr>
              <a:t>: Recursive Feature Elimination (RFE)</a:t>
            </a:r>
          </a:p>
          <a:p>
            <a:pPr marL="114300" indent="0">
              <a:buNone/>
            </a:pPr>
            <a:r>
              <a:rPr lang="en-IN" sz="2000" b="1" u="sng" dirty="0">
                <a:solidFill>
                  <a:srgbClr val="000000"/>
                </a:solidFill>
                <a:latin typeface="Times New Roman" panose="02020603050405020304" pitchFamily="18" charset="0"/>
                <a:cs typeface="Times New Roman" panose="02020603050405020304" pitchFamily="18" charset="0"/>
              </a:rPr>
              <a:t>Feature Selection: </a:t>
            </a:r>
            <a:r>
              <a:rPr lang="en-IN" sz="2000" dirty="0">
                <a:solidFill>
                  <a:srgbClr val="000000"/>
                </a:solidFill>
                <a:latin typeface="Times New Roman" panose="02020603050405020304" pitchFamily="18" charset="0"/>
                <a:cs typeface="Times New Roman" panose="02020603050405020304" pitchFamily="18" charset="0"/>
              </a:rPr>
              <a:t>Total Selected Features: 30</a:t>
            </a:r>
          </a:p>
          <a:p>
            <a:pPr marL="114300" indent="0">
              <a:buNone/>
            </a:pPr>
            <a:r>
              <a:rPr lang="en-IN" sz="2000" b="1" u="sng" dirty="0">
                <a:solidFill>
                  <a:srgbClr val="000000"/>
                </a:solidFill>
                <a:latin typeface="Times New Roman" panose="02020603050405020304" pitchFamily="18" charset="0"/>
                <a:cs typeface="Times New Roman" panose="02020603050405020304" pitchFamily="18" charset="0"/>
              </a:rPr>
              <a:t>Encoding</a:t>
            </a:r>
            <a:r>
              <a:rPr lang="en-IN" sz="2000" b="1" dirty="0">
                <a:solidFill>
                  <a:srgbClr val="000000"/>
                </a:solidFill>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2000" b="1" dirty="0">
                <a:solidFill>
                  <a:srgbClr val="000000"/>
                </a:solidFill>
                <a:latin typeface="Times New Roman" panose="02020603050405020304" pitchFamily="18" charset="0"/>
                <a:cs typeface="Times New Roman" panose="02020603050405020304" pitchFamily="18" charset="0"/>
              </a:rPr>
              <a:t>Numerical Features</a:t>
            </a:r>
            <a:r>
              <a:rPr lang="en-IN" sz="2000" dirty="0">
                <a:solidFill>
                  <a:srgbClr val="000000"/>
                </a:solidFill>
                <a:latin typeface="Times New Roman" panose="02020603050405020304" pitchFamily="18" charset="0"/>
                <a:cs typeface="Times New Roman" panose="02020603050405020304" pitchFamily="18" charset="0"/>
              </a:rPr>
              <a:t>: [age, ratings, </a:t>
            </a:r>
            <a:r>
              <a:rPr lang="en-IN" sz="2000" dirty="0" err="1">
                <a:solidFill>
                  <a:srgbClr val="000000"/>
                </a:solidFill>
                <a:latin typeface="Times New Roman" panose="02020603050405020304" pitchFamily="18" charset="0"/>
                <a:cs typeface="Times New Roman" panose="02020603050405020304" pitchFamily="18" charset="0"/>
              </a:rPr>
              <a:t>pickup_time_minutes</a:t>
            </a:r>
            <a:r>
              <a:rPr lang="en-IN" sz="2000" dirty="0">
                <a:solidFill>
                  <a:srgbClr val="000000"/>
                </a:solidFill>
                <a:latin typeface="Times New Roman" panose="02020603050405020304" pitchFamily="18" charset="0"/>
                <a:cs typeface="Times New Roman" panose="02020603050405020304" pitchFamily="18" charset="0"/>
              </a:rPr>
              <a:t>, </a:t>
            </a:r>
            <a:r>
              <a:rPr lang="en-IN" sz="2000" dirty="0" err="1">
                <a:solidFill>
                  <a:srgbClr val="000000"/>
                </a:solidFill>
                <a:latin typeface="Times New Roman" panose="02020603050405020304" pitchFamily="18" charset="0"/>
                <a:cs typeface="Times New Roman" panose="02020603050405020304" pitchFamily="18" charset="0"/>
              </a:rPr>
              <a:t>multiple_deliveries</a:t>
            </a:r>
            <a:r>
              <a:rPr lang="en-IN" sz="2000" dirty="0">
                <a:solidFill>
                  <a:srgbClr val="000000"/>
                </a:solidFill>
                <a:latin typeface="Times New Roman" panose="02020603050405020304" pitchFamily="18" charset="0"/>
                <a:cs typeface="Times New Roman" panose="02020603050405020304" pitchFamily="18" charset="0"/>
              </a:rPr>
              <a:t>, distance]</a:t>
            </a:r>
          </a:p>
          <a:p>
            <a:pPr marL="114300" indent="0">
              <a:buNone/>
            </a:pPr>
            <a:r>
              <a:rPr lang="en-IN" sz="2000" b="1" dirty="0">
                <a:solidFill>
                  <a:srgbClr val="000000"/>
                </a:solidFill>
                <a:latin typeface="Times New Roman" panose="02020603050405020304" pitchFamily="18" charset="0"/>
                <a:cs typeface="Times New Roman" panose="02020603050405020304" pitchFamily="18" charset="0"/>
              </a:rPr>
              <a:t>      Processing:</a:t>
            </a:r>
            <a:r>
              <a:rPr lang="en-IN" sz="2000" dirty="0">
                <a:solidFill>
                  <a:srgbClr val="000000"/>
                </a:solidFill>
                <a:latin typeface="Times New Roman" panose="02020603050405020304" pitchFamily="18" charset="0"/>
                <a:cs typeface="Times New Roman" panose="02020603050405020304" pitchFamily="18" charset="0"/>
              </a:rPr>
              <a:t> </a:t>
            </a:r>
            <a:r>
              <a:rPr lang="en-IN" sz="20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 </a:t>
            </a:r>
            <a:r>
              <a:rPr lang="en-IN" sz="2000" dirty="0">
                <a:solidFill>
                  <a:srgbClr val="000000"/>
                </a:solidFill>
                <a:latin typeface="Times New Roman" panose="02020603050405020304" pitchFamily="18" charset="0"/>
                <a:cs typeface="Times New Roman" panose="02020603050405020304" pitchFamily="18" charset="0"/>
              </a:rPr>
              <a:t>Median Imputation</a:t>
            </a:r>
          </a:p>
          <a:p>
            <a:pPr marL="114300" indent="0">
              <a:buNone/>
            </a:pPr>
            <a:r>
              <a:rPr lang="en-IN" sz="2000" dirty="0">
                <a:solidFill>
                  <a:srgbClr val="000000"/>
                </a:solidFill>
                <a:latin typeface="Times New Roman" panose="02020603050405020304" pitchFamily="18" charset="0"/>
                <a:cs typeface="Times New Roman" panose="02020603050405020304" pitchFamily="18" charset="0"/>
              </a:rPr>
              <a:t>                              </a:t>
            </a:r>
            <a:r>
              <a:rPr lang="en-IN" sz="20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 </a:t>
            </a:r>
            <a:r>
              <a:rPr lang="en-IN" sz="2000" dirty="0" err="1">
                <a:solidFill>
                  <a:srgbClr val="000000"/>
                </a:solidFill>
                <a:latin typeface="Times New Roman" panose="02020603050405020304" pitchFamily="18" charset="0"/>
                <a:cs typeface="Times New Roman" panose="02020603050405020304" pitchFamily="18" charset="0"/>
              </a:rPr>
              <a:t>StandardScaler</a:t>
            </a:r>
            <a:endParaRPr lang="en-IN" sz="2000" dirty="0">
              <a:latin typeface="Times New Roman" panose="02020603050405020304" pitchFamily="18" charset="0"/>
              <a:cs typeface="Times New Roman" panose="02020603050405020304" pitchFamily="18" charset="0"/>
            </a:endParaRPr>
          </a:p>
          <a:p>
            <a:r>
              <a:rPr lang="en-IN" sz="2000" b="1" dirty="0">
                <a:solidFill>
                  <a:srgbClr val="000000"/>
                </a:solidFill>
                <a:latin typeface="Times New Roman" panose="02020603050405020304" pitchFamily="18" charset="0"/>
                <a:cs typeface="Times New Roman" panose="02020603050405020304" pitchFamily="18" charset="0"/>
              </a:rPr>
              <a:t>Ordinal Features: </a:t>
            </a:r>
            <a:r>
              <a:rPr lang="en-IN" sz="2000" dirty="0">
                <a:solidFill>
                  <a:srgbClr val="000000"/>
                </a:solidFill>
                <a:latin typeface="Times New Roman" panose="02020603050405020304" pitchFamily="18" charset="0"/>
                <a:cs typeface="Times New Roman" panose="02020603050405020304" pitchFamily="18" charset="0"/>
              </a:rPr>
              <a:t>[traffic, </a:t>
            </a:r>
            <a:r>
              <a:rPr lang="en-IN" sz="2000" dirty="0" err="1">
                <a:solidFill>
                  <a:srgbClr val="000000"/>
                </a:solidFill>
                <a:latin typeface="Times New Roman" panose="02020603050405020304" pitchFamily="18" charset="0"/>
                <a:cs typeface="Times New Roman" panose="02020603050405020304" pitchFamily="18" charset="0"/>
              </a:rPr>
              <a:t>city_type</a:t>
            </a:r>
            <a:r>
              <a:rPr lang="en-IN" sz="2000" dirty="0">
                <a:solidFill>
                  <a:srgbClr val="000000"/>
                </a:solidFill>
                <a:latin typeface="Times New Roman" panose="02020603050405020304" pitchFamily="18" charset="0"/>
                <a:cs typeface="Times New Roman" panose="02020603050405020304" pitchFamily="18" charset="0"/>
              </a:rPr>
              <a:t>]</a:t>
            </a:r>
          </a:p>
          <a:p>
            <a:pPr marL="114300" indent="0">
              <a:buNone/>
            </a:pPr>
            <a:r>
              <a:rPr lang="en-IN" sz="2000" b="1" dirty="0">
                <a:solidFill>
                  <a:srgbClr val="000000"/>
                </a:solidFill>
                <a:latin typeface="Times New Roman" panose="02020603050405020304" pitchFamily="18" charset="0"/>
                <a:cs typeface="Times New Roman" panose="02020603050405020304" pitchFamily="18" charset="0"/>
              </a:rPr>
              <a:t>       Processing:</a:t>
            </a:r>
            <a:r>
              <a:rPr lang="en-IN" sz="2000" dirty="0">
                <a:solidFill>
                  <a:srgbClr val="000000"/>
                </a:solidFill>
                <a:latin typeface="Times New Roman" panose="02020603050405020304" pitchFamily="18" charset="0"/>
                <a:cs typeface="Times New Roman" panose="02020603050405020304" pitchFamily="18" charset="0"/>
              </a:rPr>
              <a:t> </a:t>
            </a:r>
            <a:r>
              <a:rPr lang="en-IN" sz="20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 </a:t>
            </a:r>
            <a:r>
              <a:rPr lang="en-IN" sz="2000" dirty="0">
                <a:solidFill>
                  <a:srgbClr val="000000"/>
                </a:solidFill>
                <a:latin typeface="Times New Roman" panose="02020603050405020304" pitchFamily="18" charset="0"/>
                <a:cs typeface="Times New Roman" panose="02020603050405020304" pitchFamily="18" charset="0"/>
              </a:rPr>
              <a:t>Most Frequent Imputation </a:t>
            </a:r>
          </a:p>
          <a:p>
            <a:pPr marL="114300" indent="0">
              <a:buNone/>
            </a:pPr>
            <a:r>
              <a:rPr lang="en-IN" sz="2000" dirty="0">
                <a:solidFill>
                  <a:srgbClr val="000000"/>
                </a:solidFill>
                <a:latin typeface="Times New Roman" panose="02020603050405020304" pitchFamily="18" charset="0"/>
                <a:cs typeface="Times New Roman" panose="02020603050405020304" pitchFamily="18" charset="0"/>
              </a:rPr>
              <a:t>                            </a:t>
            </a:r>
            <a:r>
              <a:rPr lang="en-IN" sz="20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 </a:t>
            </a:r>
            <a:r>
              <a:rPr lang="en-IN" sz="2000" dirty="0">
                <a:solidFill>
                  <a:srgbClr val="000000"/>
                </a:solidFill>
                <a:latin typeface="Times New Roman" panose="02020603050405020304" pitchFamily="18" charset="0"/>
                <a:cs typeface="Times New Roman" panose="02020603050405020304" pitchFamily="18" charset="0"/>
              </a:rPr>
              <a:t>Ordinal Encoding</a:t>
            </a:r>
            <a:endParaRPr lang="en-IN" sz="2000" b="1" dirty="0">
              <a:latin typeface="Times New Roman" panose="02020603050405020304" pitchFamily="18" charset="0"/>
              <a:cs typeface="Times New Roman" panose="02020603050405020304" pitchFamily="18" charset="0"/>
            </a:endParaRPr>
          </a:p>
          <a:p>
            <a:r>
              <a:rPr lang="en-IN" sz="2000" b="1" dirty="0">
                <a:solidFill>
                  <a:srgbClr val="000000"/>
                </a:solidFill>
                <a:latin typeface="Times New Roman" panose="02020603050405020304" pitchFamily="18" charset="0"/>
                <a:cs typeface="Times New Roman" panose="02020603050405020304" pitchFamily="18" charset="0"/>
              </a:rPr>
              <a:t>Nominal Features</a:t>
            </a:r>
            <a:r>
              <a:rPr lang="en-IN" sz="2000" dirty="0">
                <a:solidFill>
                  <a:srgbClr val="000000"/>
                </a:solidFill>
                <a:latin typeface="Times New Roman" panose="02020603050405020304" pitchFamily="18" charset="0"/>
                <a:cs typeface="Times New Roman" panose="02020603050405020304" pitchFamily="18" charset="0"/>
              </a:rPr>
              <a:t>: [weather, </a:t>
            </a:r>
            <a:r>
              <a:rPr lang="en-IN" sz="2000" dirty="0" err="1">
                <a:solidFill>
                  <a:srgbClr val="000000"/>
                </a:solidFill>
                <a:latin typeface="Times New Roman" panose="02020603050405020304" pitchFamily="18" charset="0"/>
                <a:cs typeface="Times New Roman" panose="02020603050405020304" pitchFamily="18" charset="0"/>
              </a:rPr>
              <a:t>type_of_order</a:t>
            </a:r>
            <a:r>
              <a:rPr lang="en-IN" sz="2000" dirty="0">
                <a:solidFill>
                  <a:srgbClr val="000000"/>
                </a:solidFill>
                <a:latin typeface="Times New Roman" panose="02020603050405020304" pitchFamily="18" charset="0"/>
                <a:cs typeface="Times New Roman" panose="02020603050405020304" pitchFamily="18" charset="0"/>
              </a:rPr>
              <a:t>, </a:t>
            </a:r>
            <a:r>
              <a:rPr lang="en-IN" sz="2000" dirty="0" err="1">
                <a:solidFill>
                  <a:srgbClr val="000000"/>
                </a:solidFill>
                <a:latin typeface="Times New Roman" panose="02020603050405020304" pitchFamily="18" charset="0"/>
                <a:cs typeface="Times New Roman" panose="02020603050405020304" pitchFamily="18" charset="0"/>
              </a:rPr>
              <a:t>type_of_vehicle</a:t>
            </a:r>
            <a:r>
              <a:rPr lang="en-IN" sz="2000" dirty="0">
                <a:solidFill>
                  <a:srgbClr val="000000"/>
                </a:solidFill>
                <a:latin typeface="Times New Roman" panose="02020603050405020304" pitchFamily="18" charset="0"/>
                <a:cs typeface="Times New Roman" panose="02020603050405020304" pitchFamily="18" charset="0"/>
              </a:rPr>
              <a:t>, </a:t>
            </a:r>
            <a:r>
              <a:rPr lang="en-IN" sz="2000" dirty="0" err="1">
                <a:solidFill>
                  <a:srgbClr val="000000"/>
                </a:solidFill>
                <a:latin typeface="Times New Roman" panose="02020603050405020304" pitchFamily="18" charset="0"/>
                <a:cs typeface="Times New Roman" panose="02020603050405020304" pitchFamily="18" charset="0"/>
              </a:rPr>
              <a:t>city_name</a:t>
            </a:r>
            <a:r>
              <a:rPr lang="en-IN" sz="2000" dirty="0">
                <a:solidFill>
                  <a:srgbClr val="000000"/>
                </a:solidFill>
                <a:latin typeface="Times New Roman" panose="02020603050405020304" pitchFamily="18" charset="0"/>
                <a:cs typeface="Times New Roman" panose="02020603050405020304" pitchFamily="18" charset="0"/>
              </a:rPr>
              <a:t>, festival, </a:t>
            </a:r>
            <a:r>
              <a:rPr lang="en-IN" sz="2000" dirty="0" err="1">
                <a:solidFill>
                  <a:srgbClr val="000000"/>
                </a:solidFill>
                <a:latin typeface="Times New Roman" panose="02020603050405020304" pitchFamily="18" charset="0"/>
                <a:cs typeface="Times New Roman" panose="02020603050405020304" pitchFamily="18" charset="0"/>
              </a:rPr>
              <a:t>order_day_of_week</a:t>
            </a:r>
            <a:r>
              <a:rPr lang="en-IN" sz="2000" dirty="0">
                <a:solidFill>
                  <a:srgbClr val="000000"/>
                </a:solidFill>
                <a:latin typeface="Times New Roman" panose="02020603050405020304" pitchFamily="18" charset="0"/>
                <a:cs typeface="Times New Roman" panose="02020603050405020304" pitchFamily="18" charset="0"/>
              </a:rPr>
              <a:t>, </a:t>
            </a:r>
            <a:r>
              <a:rPr lang="en-IN" sz="2000" dirty="0" err="1">
                <a:solidFill>
                  <a:srgbClr val="000000"/>
                </a:solidFill>
                <a:latin typeface="Times New Roman" panose="02020603050405020304" pitchFamily="18" charset="0"/>
                <a:cs typeface="Times New Roman" panose="02020603050405020304" pitchFamily="18" charset="0"/>
              </a:rPr>
              <a:t>order_time_of_day</a:t>
            </a:r>
            <a:r>
              <a:rPr lang="en-IN" sz="2000" dirty="0">
                <a:solidFill>
                  <a:srgbClr val="000000"/>
                </a:solidFill>
                <a:latin typeface="Times New Roman" panose="02020603050405020304" pitchFamily="18" charset="0"/>
                <a:cs typeface="Times New Roman" panose="02020603050405020304" pitchFamily="18" charset="0"/>
              </a:rPr>
              <a:t>, </a:t>
            </a:r>
            <a:r>
              <a:rPr lang="en-IN" sz="2000" dirty="0" err="1">
                <a:solidFill>
                  <a:srgbClr val="000000"/>
                </a:solidFill>
                <a:latin typeface="Times New Roman" panose="02020603050405020304" pitchFamily="18" charset="0"/>
                <a:cs typeface="Times New Roman" panose="02020603050405020304" pitchFamily="18" charset="0"/>
              </a:rPr>
              <a:t>Delivery_Load</a:t>
            </a:r>
            <a:r>
              <a:rPr lang="en-IN" sz="2000" dirty="0">
                <a:solidFill>
                  <a:srgbClr val="000000"/>
                </a:solidFill>
                <a:latin typeface="Times New Roman" panose="02020603050405020304" pitchFamily="18" charset="0"/>
                <a:cs typeface="Times New Roman" panose="02020603050405020304" pitchFamily="18" charset="0"/>
              </a:rPr>
              <a:t>]</a:t>
            </a:r>
          </a:p>
          <a:p>
            <a:pPr marL="114300" indent="0">
              <a:buNone/>
            </a:pPr>
            <a:r>
              <a:rPr lang="en-IN" sz="2000" b="1" dirty="0">
                <a:solidFill>
                  <a:srgbClr val="000000"/>
                </a:solidFill>
                <a:latin typeface="Times New Roman" panose="02020603050405020304" pitchFamily="18" charset="0"/>
                <a:cs typeface="Times New Roman" panose="02020603050405020304" pitchFamily="18" charset="0"/>
              </a:rPr>
              <a:t>      Processing:</a:t>
            </a:r>
            <a:r>
              <a:rPr lang="en-IN" sz="2000" dirty="0">
                <a:solidFill>
                  <a:srgbClr val="000000"/>
                </a:solidFill>
                <a:latin typeface="Times New Roman" panose="02020603050405020304" pitchFamily="18" charset="0"/>
                <a:cs typeface="Times New Roman" panose="02020603050405020304" pitchFamily="18" charset="0"/>
              </a:rPr>
              <a:t> </a:t>
            </a:r>
            <a:r>
              <a:rPr lang="en-IN" sz="20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 </a:t>
            </a:r>
            <a:r>
              <a:rPr lang="en-IN" sz="2000" dirty="0">
                <a:solidFill>
                  <a:srgbClr val="000000"/>
                </a:solidFill>
                <a:latin typeface="Times New Roman" panose="02020603050405020304" pitchFamily="18" charset="0"/>
                <a:cs typeface="Times New Roman" panose="02020603050405020304" pitchFamily="18" charset="0"/>
              </a:rPr>
              <a:t>Most Frequent Imputation</a:t>
            </a:r>
          </a:p>
          <a:p>
            <a:pPr marL="114300" indent="0">
              <a:buNone/>
            </a:pPr>
            <a:r>
              <a:rPr lang="en-IN" sz="2000" dirty="0">
                <a:solidFill>
                  <a:srgbClr val="000000"/>
                </a:solidFill>
                <a:latin typeface="Times New Roman" panose="02020603050405020304" pitchFamily="18" charset="0"/>
                <a:cs typeface="Times New Roman" panose="02020603050405020304" pitchFamily="18" charset="0"/>
              </a:rPr>
              <a:t>                           </a:t>
            </a:r>
            <a:r>
              <a:rPr lang="en-IN" sz="200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 </a:t>
            </a:r>
            <a:r>
              <a:rPr lang="en-IN" sz="2000" dirty="0">
                <a:solidFill>
                  <a:srgbClr val="000000"/>
                </a:solidFill>
                <a:latin typeface="Times New Roman" panose="02020603050405020304" pitchFamily="18" charset="0"/>
                <a:cs typeface="Times New Roman" panose="02020603050405020304" pitchFamily="18" charset="0"/>
              </a:rPr>
              <a:t>One-Hot Encoding</a:t>
            </a:r>
          </a:p>
          <a:p>
            <a:pPr marL="114300" indent="0">
              <a:buNone/>
            </a:pPr>
            <a:endParaRPr lang="en-IN" sz="1800" dirty="0"/>
          </a:p>
          <a:p>
            <a:pPr marL="114300" indent="0">
              <a:buNone/>
            </a:pPr>
            <a:endParaRPr lang="en-IN" sz="2200" b="1" u="sng" dirty="0"/>
          </a:p>
        </p:txBody>
      </p:sp>
      <p:pic>
        <p:nvPicPr>
          <p:cNvPr id="5" name="Picture 4">
            <a:extLst>
              <a:ext uri="{FF2B5EF4-FFF2-40B4-BE49-F238E27FC236}">
                <a16:creationId xmlns:a16="http://schemas.microsoft.com/office/drawing/2014/main" id="{26BAB14D-690D-79D6-1B88-BF2659D7D1A7}"/>
              </a:ext>
            </a:extLst>
          </p:cNvPr>
          <p:cNvPicPr>
            <a:picLocks noChangeAspect="1"/>
          </p:cNvPicPr>
          <p:nvPr/>
        </p:nvPicPr>
        <p:blipFill>
          <a:blip r:embed="rId2"/>
          <a:stretch>
            <a:fillRect/>
          </a:stretch>
        </p:blipFill>
        <p:spPr>
          <a:xfrm>
            <a:off x="9244484" y="894734"/>
            <a:ext cx="2753248" cy="5232113"/>
          </a:xfrm>
          <a:prstGeom prst="rect">
            <a:avLst/>
          </a:prstGeom>
        </p:spPr>
      </p:pic>
      <p:pic>
        <p:nvPicPr>
          <p:cNvPr id="6" name="Picture 5">
            <a:extLst>
              <a:ext uri="{FF2B5EF4-FFF2-40B4-BE49-F238E27FC236}">
                <a16:creationId xmlns:a16="http://schemas.microsoft.com/office/drawing/2014/main" id="{0DB91FCF-1E01-49BB-E4D0-FE71F1F927A9}"/>
              </a:ext>
            </a:extLst>
          </p:cNvPr>
          <p:cNvPicPr>
            <a:picLocks noChangeAspect="1"/>
          </p:cNvPicPr>
          <p:nvPr/>
        </p:nvPicPr>
        <p:blipFill>
          <a:blip r:embed="rId3"/>
          <a:stretch>
            <a:fillRect/>
          </a:stretch>
        </p:blipFill>
        <p:spPr>
          <a:xfrm>
            <a:off x="-119216" y="88490"/>
            <a:ext cx="1748589" cy="894735"/>
          </a:xfrm>
          <a:prstGeom prst="rect">
            <a:avLst/>
          </a:prstGeom>
        </p:spPr>
      </p:pic>
    </p:spTree>
    <p:extLst>
      <p:ext uri="{BB962C8B-B14F-4D97-AF65-F5344CB8AC3E}">
        <p14:creationId xmlns:p14="http://schemas.microsoft.com/office/powerpoint/2010/main" val="2975409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42751" y="247758"/>
            <a:ext cx="10515600" cy="641446"/>
          </a:xfrm>
        </p:spPr>
        <p:txBody>
          <a:bodyPr>
            <a:noAutofit/>
          </a:bodyPr>
          <a:lstStyle/>
          <a:p>
            <a:pPr algn="ctr"/>
            <a:br>
              <a:rPr lang="en-US" b="1" u="sng" dirty="0">
                <a:solidFill>
                  <a:srgbClr val="FF0000"/>
                </a:solidFill>
                <a:latin typeface="Times New Roman" panose="02020603050405020304" pitchFamily="18" charset="0"/>
                <a:cs typeface="Times New Roman" panose="02020603050405020304" pitchFamily="18" charset="0"/>
              </a:rPr>
            </a:br>
            <a:r>
              <a:rPr lang="en-US" b="1" u="sng" dirty="0">
                <a:solidFill>
                  <a:srgbClr val="FF0000"/>
                </a:solidFill>
                <a:latin typeface="Times New Roman" panose="02020603050405020304" pitchFamily="18" charset="0"/>
                <a:cs typeface="Times New Roman" panose="02020603050405020304" pitchFamily="18" charset="0"/>
              </a:rPr>
              <a:t>Model Building</a:t>
            </a:r>
            <a:br>
              <a:rPr lang="en-US" b="1" u="sng" dirty="0">
                <a:solidFill>
                  <a:srgbClr val="FF0000"/>
                </a:solidFill>
                <a:latin typeface="Times New Roman" panose="02020603050405020304" pitchFamily="18" charset="0"/>
                <a:cs typeface="Times New Roman" panose="02020603050405020304" pitchFamily="18" charset="0"/>
              </a:rPr>
            </a:br>
            <a:endParaRPr lang="en-US" b="1" u="sng" dirty="0">
              <a:solidFill>
                <a:srgbClr val="FF0000"/>
              </a:solidFill>
              <a:latin typeface="Times New Roman" panose="02020603050405020304" pitchFamily="18" charset="0"/>
              <a:cs typeface="Times New Roman" panose="02020603050405020304" pitchFamily="18" charset="0"/>
            </a:endParaRPr>
          </a:p>
        </p:txBody>
      </p:sp>
      <p:sp>
        <p:nvSpPr>
          <p:cNvPr id="8" name="Text Placeholder 7"/>
          <p:cNvSpPr>
            <a:spLocks noGrp="1"/>
          </p:cNvSpPr>
          <p:nvPr>
            <p:ph type="body" idx="1"/>
          </p:nvPr>
        </p:nvSpPr>
        <p:spPr>
          <a:xfrm>
            <a:off x="75063" y="1795854"/>
            <a:ext cx="12041873" cy="5343499"/>
          </a:xfrm>
        </p:spPr>
        <p:txBody>
          <a:bodyPr>
            <a:normAutofit/>
          </a:bodyPr>
          <a:lstStyle/>
          <a:p>
            <a:pPr marL="114300" indent="0">
              <a:buNone/>
            </a:pPr>
            <a:r>
              <a:rPr lang="en-IN" sz="2000" b="1" u="sng" dirty="0">
                <a:solidFill>
                  <a:srgbClr val="000000"/>
                </a:solidFill>
                <a:latin typeface="Times New Roman" panose="02020603050405020304" pitchFamily="18" charset="0"/>
                <a:cs typeface="Times New Roman" panose="02020603050405020304" pitchFamily="18" charset="0"/>
              </a:rPr>
              <a:t>Target Variable: </a:t>
            </a:r>
            <a:r>
              <a:rPr lang="en-IN" sz="2000" dirty="0" err="1">
                <a:solidFill>
                  <a:srgbClr val="000000"/>
                </a:solidFill>
                <a:latin typeface="Times New Roman" panose="02020603050405020304" pitchFamily="18" charset="0"/>
                <a:cs typeface="Times New Roman" panose="02020603050405020304" pitchFamily="18" charset="0"/>
              </a:rPr>
              <a:t>Time_taken</a:t>
            </a:r>
            <a:r>
              <a:rPr lang="en-IN" sz="2000" dirty="0">
                <a:solidFill>
                  <a:srgbClr val="000000"/>
                </a:solidFill>
                <a:latin typeface="Times New Roman" panose="02020603050405020304" pitchFamily="18" charset="0"/>
                <a:cs typeface="Times New Roman" panose="02020603050405020304" pitchFamily="18" charset="0"/>
              </a:rPr>
              <a:t> (Minutes)</a:t>
            </a:r>
            <a:endParaRPr lang="en-US" sz="2000" dirty="0">
              <a:solidFill>
                <a:schemeClr val="tx1"/>
              </a:solidFill>
              <a:latin typeface="Times New Roman" panose="02020603050405020304" pitchFamily="18" charset="0"/>
              <a:cs typeface="Times New Roman" panose="02020603050405020304" pitchFamily="18" charset="0"/>
            </a:endParaRPr>
          </a:p>
          <a:p>
            <a:pPr marL="114300" indent="0">
              <a:lnSpc>
                <a:spcPct val="100000"/>
              </a:lnSpc>
              <a:buNone/>
            </a:pPr>
            <a:r>
              <a:rPr lang="en-IN" sz="2000" b="1" u="sng" dirty="0">
                <a:solidFill>
                  <a:srgbClr val="000000"/>
                </a:solidFill>
                <a:latin typeface="Times New Roman" panose="02020603050405020304" pitchFamily="18" charset="0"/>
                <a:cs typeface="Times New Roman" panose="02020603050405020304" pitchFamily="18" charset="0"/>
              </a:rPr>
              <a:t>Regression Models Used</a:t>
            </a:r>
            <a:r>
              <a:rPr lang="en-IN" sz="2000" dirty="0">
                <a:solidFill>
                  <a:srgbClr val="000000"/>
                </a:solidFill>
                <a:latin typeface="Times New Roman" panose="02020603050405020304" pitchFamily="18" charset="0"/>
                <a:cs typeface="Times New Roman" panose="02020603050405020304" pitchFamily="18" charset="0"/>
              </a:rPr>
              <a:t>: </a:t>
            </a:r>
            <a:r>
              <a:rPr lang="en-US" sz="2000" dirty="0">
                <a:solidFill>
                  <a:srgbClr val="000000"/>
                </a:solidFill>
                <a:latin typeface="Times New Roman" panose="02020603050405020304" pitchFamily="18" charset="0"/>
                <a:cs typeface="Times New Roman" panose="02020603050405020304" pitchFamily="18" charset="0"/>
              </a:rPr>
              <a:t>Linear Regression, DecisionTree, Random Forest Regressor, </a:t>
            </a:r>
            <a:r>
              <a:rPr lang="en-US" sz="2000" dirty="0" err="1">
                <a:solidFill>
                  <a:srgbClr val="000000"/>
                </a:solidFill>
                <a:latin typeface="Times New Roman" panose="02020603050405020304" pitchFamily="18" charset="0"/>
                <a:cs typeface="Times New Roman" panose="02020603050405020304" pitchFamily="18" charset="0"/>
              </a:rPr>
              <a:t>XGBoost</a:t>
            </a:r>
            <a:endParaRPr lang="en-US" sz="2000" dirty="0">
              <a:solidFill>
                <a:schemeClr val="tx1"/>
              </a:solidFill>
              <a:latin typeface="Times New Roman" panose="02020603050405020304" pitchFamily="18" charset="0"/>
              <a:cs typeface="Times New Roman" panose="02020603050405020304" pitchFamily="18" charset="0"/>
            </a:endParaRPr>
          </a:p>
          <a:p>
            <a:pPr>
              <a:lnSpc>
                <a:spcPct val="100000"/>
              </a:lnSpc>
            </a:pPr>
            <a:r>
              <a:rPr lang="en-US" sz="2000" dirty="0" err="1">
                <a:solidFill>
                  <a:srgbClr val="000000"/>
                </a:solidFill>
                <a:latin typeface="Times New Roman" panose="02020603050405020304" pitchFamily="18" charset="0"/>
                <a:cs typeface="Times New Roman" panose="02020603050405020304" pitchFamily="18" charset="0"/>
              </a:rPr>
              <a:t>Comparision</a:t>
            </a:r>
            <a:r>
              <a:rPr lang="en-US" sz="2000" dirty="0">
                <a:solidFill>
                  <a:srgbClr val="000000"/>
                </a:solidFill>
                <a:latin typeface="Times New Roman" panose="02020603050405020304" pitchFamily="18" charset="0"/>
                <a:cs typeface="Times New Roman" panose="02020603050405020304" pitchFamily="18" charset="0"/>
              </a:rPr>
              <a:t> Table Based on R2 Score</a:t>
            </a:r>
          </a:p>
          <a:p>
            <a:pPr marL="114300" indent="0">
              <a:lnSpc>
                <a:spcPct val="100000"/>
              </a:lnSpc>
              <a:buNone/>
            </a:pPr>
            <a:endParaRPr lang="en-US" sz="2000" dirty="0">
              <a:solidFill>
                <a:schemeClr val="tx1"/>
              </a:solidFill>
              <a:latin typeface="Times New Roman" panose="02020603050405020304" pitchFamily="18" charset="0"/>
              <a:cs typeface="Times New Roman" panose="02020603050405020304" pitchFamily="18" charset="0"/>
            </a:endParaRPr>
          </a:p>
          <a:p>
            <a:pPr marL="114300" indent="0">
              <a:buNone/>
            </a:pPr>
            <a:endParaRPr lang="en-IN" sz="2000" b="1" dirty="0">
              <a:latin typeface="Times New Roman" panose="02020603050405020304" pitchFamily="18" charset="0"/>
              <a:cs typeface="Times New Roman" panose="02020603050405020304" pitchFamily="18" charset="0"/>
            </a:endParaRPr>
          </a:p>
          <a:p>
            <a:pPr marL="114300" indent="0">
              <a:buNone/>
            </a:pPr>
            <a:endParaRPr lang="en-IN" sz="2000" b="1" dirty="0">
              <a:latin typeface="Times New Roman" panose="02020603050405020304" pitchFamily="18" charset="0"/>
              <a:cs typeface="Times New Roman" panose="02020603050405020304" pitchFamily="18" charset="0"/>
            </a:endParaRPr>
          </a:p>
          <a:p>
            <a:pPr marL="114300" indent="0">
              <a:buNone/>
            </a:pPr>
            <a:endParaRPr lang="en-IN" sz="2000" b="1" dirty="0">
              <a:latin typeface="Times New Roman" panose="02020603050405020304" pitchFamily="18" charset="0"/>
              <a:cs typeface="Times New Roman" panose="02020603050405020304" pitchFamily="18" charset="0"/>
            </a:endParaRPr>
          </a:p>
          <a:p>
            <a:pPr marL="114300" indent="0">
              <a:buNone/>
            </a:pPr>
            <a:endParaRPr lang="en-IN" sz="2000" b="1" dirty="0">
              <a:latin typeface="Times New Roman" panose="02020603050405020304" pitchFamily="18" charset="0"/>
              <a:cs typeface="Times New Roman" panose="02020603050405020304" pitchFamily="18" charset="0"/>
            </a:endParaRPr>
          </a:p>
          <a:p>
            <a:pPr marL="114300" indent="0">
              <a:buNone/>
            </a:pPr>
            <a:endParaRPr lang="en-IN" sz="2000" b="1" dirty="0">
              <a:latin typeface="Times New Roman" panose="02020603050405020304" pitchFamily="18" charset="0"/>
              <a:cs typeface="Times New Roman" panose="02020603050405020304" pitchFamily="18" charset="0"/>
            </a:endParaRPr>
          </a:p>
          <a:p>
            <a:pPr marL="114300" indent="0">
              <a:buNone/>
            </a:pPr>
            <a:r>
              <a:rPr lang="en-IN" sz="2000" b="1"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rPr>
              <a:t> </a:t>
            </a:r>
            <a:r>
              <a:rPr lang="en-IN" sz="2000" dirty="0" err="1">
                <a:solidFill>
                  <a:srgbClr val="000000"/>
                </a:solidFill>
                <a:latin typeface="Times New Roman" panose="02020603050405020304" pitchFamily="18" charset="0"/>
                <a:cs typeface="Times New Roman" panose="02020603050405020304" pitchFamily="18" charset="0"/>
              </a:rPr>
              <a:t>XGBoost</a:t>
            </a:r>
            <a:r>
              <a:rPr lang="en-IN" sz="2000" dirty="0">
                <a:solidFill>
                  <a:srgbClr val="000000"/>
                </a:solidFill>
                <a:latin typeface="Times New Roman" panose="02020603050405020304" pitchFamily="18" charset="0"/>
                <a:cs typeface="Times New Roman" panose="02020603050405020304" pitchFamily="18" charset="0"/>
              </a:rPr>
              <a:t> achieved the highest testing performance and was selected as the best model.</a:t>
            </a: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9879413-A5B4-86E2-6B88-C7AC53EEBEF3}"/>
              </a:ext>
            </a:extLst>
          </p:cNvPr>
          <p:cNvPicPr>
            <a:picLocks noChangeAspect="1"/>
          </p:cNvPicPr>
          <p:nvPr/>
        </p:nvPicPr>
        <p:blipFill>
          <a:blip r:embed="rId2"/>
          <a:stretch>
            <a:fillRect/>
          </a:stretch>
        </p:blipFill>
        <p:spPr>
          <a:xfrm>
            <a:off x="2079521" y="3146323"/>
            <a:ext cx="8032955" cy="2399072"/>
          </a:xfrm>
          <a:prstGeom prst="rect">
            <a:avLst/>
          </a:prstGeom>
        </p:spPr>
      </p:pic>
      <p:pic>
        <p:nvPicPr>
          <p:cNvPr id="3" name="Picture 2">
            <a:extLst>
              <a:ext uri="{FF2B5EF4-FFF2-40B4-BE49-F238E27FC236}">
                <a16:creationId xmlns:a16="http://schemas.microsoft.com/office/drawing/2014/main" id="{E2D6B337-E472-32BA-9087-B3E0CE9BCE6A}"/>
              </a:ext>
            </a:extLst>
          </p:cNvPr>
          <p:cNvPicPr>
            <a:picLocks noChangeAspect="1"/>
          </p:cNvPicPr>
          <p:nvPr/>
        </p:nvPicPr>
        <p:blipFill>
          <a:blip r:embed="rId3"/>
          <a:stretch>
            <a:fillRect/>
          </a:stretch>
        </p:blipFill>
        <p:spPr>
          <a:xfrm>
            <a:off x="-129049" y="121113"/>
            <a:ext cx="1748589" cy="894735"/>
          </a:xfrm>
          <a:prstGeom prst="rect">
            <a:avLst/>
          </a:prstGeom>
        </p:spPr>
      </p:pic>
    </p:spTree>
    <p:extLst>
      <p:ext uri="{BB962C8B-B14F-4D97-AF65-F5344CB8AC3E}">
        <p14:creationId xmlns:p14="http://schemas.microsoft.com/office/powerpoint/2010/main" val="4229462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8B1DD2A-2AFA-33BD-B92A-2003A419934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10829CD-344E-5F9E-6171-97C9E375E84C}"/>
              </a:ext>
            </a:extLst>
          </p:cNvPr>
          <p:cNvSpPr>
            <a:spLocks noGrp="1"/>
          </p:cNvSpPr>
          <p:nvPr>
            <p:ph type="title"/>
          </p:nvPr>
        </p:nvSpPr>
        <p:spPr>
          <a:xfrm>
            <a:off x="842751" y="247758"/>
            <a:ext cx="10515600" cy="641446"/>
          </a:xfrm>
        </p:spPr>
        <p:txBody>
          <a:bodyPr>
            <a:noAutofit/>
          </a:bodyPr>
          <a:lstStyle/>
          <a:p>
            <a:pPr algn="ctr"/>
            <a:br>
              <a:rPr lang="en-US" b="1" u="sng" dirty="0">
                <a:solidFill>
                  <a:srgbClr val="FF0000"/>
                </a:solidFill>
                <a:latin typeface="Times New Roman" panose="02020603050405020304" pitchFamily="18" charset="0"/>
                <a:cs typeface="Times New Roman" panose="02020603050405020304" pitchFamily="18" charset="0"/>
              </a:rPr>
            </a:br>
            <a:r>
              <a:rPr lang="en-US" b="1" u="sng" dirty="0">
                <a:solidFill>
                  <a:srgbClr val="FF0000"/>
                </a:solidFill>
                <a:latin typeface="Times New Roman" panose="02020603050405020304" pitchFamily="18" charset="0"/>
                <a:cs typeface="Times New Roman" panose="02020603050405020304" pitchFamily="18" charset="0"/>
              </a:rPr>
              <a:t>Cross Validation</a:t>
            </a:r>
            <a:br>
              <a:rPr lang="en-US" b="1" u="sng" dirty="0">
                <a:solidFill>
                  <a:srgbClr val="FF0000"/>
                </a:solidFill>
                <a:latin typeface="Times New Roman" panose="02020603050405020304" pitchFamily="18" charset="0"/>
                <a:cs typeface="Times New Roman" panose="02020603050405020304" pitchFamily="18" charset="0"/>
              </a:rPr>
            </a:br>
            <a:endParaRPr lang="en-US" b="1" u="sng" dirty="0">
              <a:solidFill>
                <a:srgbClr val="FF0000"/>
              </a:solidFill>
              <a:latin typeface="Times New Roman" panose="02020603050405020304" pitchFamily="18" charset="0"/>
              <a:cs typeface="Times New Roman" panose="02020603050405020304" pitchFamily="18" charset="0"/>
            </a:endParaRPr>
          </a:p>
        </p:txBody>
      </p:sp>
      <p:sp>
        <p:nvSpPr>
          <p:cNvPr id="8" name="Text Placeholder 7">
            <a:extLst>
              <a:ext uri="{FF2B5EF4-FFF2-40B4-BE49-F238E27FC236}">
                <a16:creationId xmlns:a16="http://schemas.microsoft.com/office/drawing/2014/main" id="{D3716EAC-87E0-CF53-7E46-ED7370F50C9F}"/>
              </a:ext>
            </a:extLst>
          </p:cNvPr>
          <p:cNvSpPr>
            <a:spLocks noGrp="1"/>
          </p:cNvSpPr>
          <p:nvPr>
            <p:ph type="body" idx="1"/>
          </p:nvPr>
        </p:nvSpPr>
        <p:spPr>
          <a:xfrm>
            <a:off x="0" y="1846096"/>
            <a:ext cx="12041873" cy="5011904"/>
          </a:xfrm>
        </p:spPr>
        <p:txBody>
          <a:bodyPr>
            <a:normAutofit/>
          </a:bodyPr>
          <a:lstStyle/>
          <a:p>
            <a:pPr marL="114300" indent="0">
              <a:buNone/>
            </a:pPr>
            <a:r>
              <a:rPr lang="en-IN" sz="2000" b="1" u="sng" dirty="0">
                <a:solidFill>
                  <a:srgbClr val="000000"/>
                </a:solidFill>
                <a:latin typeface="Times New Roman" panose="02020603050405020304" pitchFamily="18" charset="0"/>
                <a:cs typeface="Times New Roman" panose="02020603050405020304" pitchFamily="18" charset="0"/>
              </a:rPr>
              <a:t>Technique Used</a:t>
            </a:r>
            <a:r>
              <a:rPr lang="en-IN" sz="2000" b="1" dirty="0">
                <a:solidFill>
                  <a:srgbClr val="000000"/>
                </a:solidFill>
                <a:latin typeface="Times New Roman" panose="02020603050405020304" pitchFamily="18" charset="0"/>
                <a:cs typeface="Times New Roman" panose="02020603050405020304" pitchFamily="18" charset="0"/>
              </a:rPr>
              <a:t>:</a:t>
            </a:r>
            <a:r>
              <a:rPr lang="en-IN" sz="2000" b="1" u="sng" dirty="0">
                <a:solidFill>
                  <a:srgbClr val="000000"/>
                </a:solidFill>
                <a:latin typeface="Times New Roman" panose="02020603050405020304" pitchFamily="18" charset="0"/>
                <a:cs typeface="Times New Roman" panose="02020603050405020304" pitchFamily="18" charset="0"/>
              </a:rPr>
              <a:t> </a:t>
            </a:r>
            <a:r>
              <a:rPr lang="en-IN" sz="2000" b="1" dirty="0">
                <a:solidFill>
                  <a:srgbClr val="000000"/>
                </a:solidFill>
                <a:latin typeface="Times New Roman" panose="02020603050405020304" pitchFamily="18" charset="0"/>
                <a:cs typeface="Times New Roman" panose="02020603050405020304" pitchFamily="18" charset="0"/>
              </a:rPr>
              <a:t>5-Fold Cross Validation</a:t>
            </a:r>
            <a:r>
              <a:rPr lang="en-IN" sz="2000" dirty="0">
                <a:solidFill>
                  <a:srgbClr val="000000"/>
                </a:solidFill>
                <a:latin typeface="Times New Roman" panose="02020603050405020304" pitchFamily="18" charset="0"/>
                <a:cs typeface="Times New Roman" panose="02020603050405020304" pitchFamily="18" charset="0"/>
              </a:rPr>
              <a:t> </a:t>
            </a:r>
          </a:p>
          <a:p>
            <a:pPr marL="114300" indent="0">
              <a:buNone/>
            </a:pPr>
            <a:r>
              <a:rPr lang="en-IN" sz="2000" b="1" dirty="0">
                <a:solidFill>
                  <a:srgbClr val="000000"/>
                </a:solidFill>
                <a:latin typeface="Times New Roman" panose="02020603050405020304" pitchFamily="18" charset="0"/>
                <a:cs typeface="Times New Roman" panose="02020603050405020304" pitchFamily="18" charset="0"/>
              </a:rPr>
              <a:t>Why?</a:t>
            </a:r>
          </a:p>
          <a:p>
            <a:r>
              <a:rPr lang="en-IN" sz="2000" dirty="0">
                <a:solidFill>
                  <a:srgbClr val="000000"/>
                </a:solidFill>
                <a:latin typeface="Times New Roman" panose="02020603050405020304" pitchFamily="18" charset="0"/>
                <a:cs typeface="Times New Roman" panose="02020603050405020304" pitchFamily="18" charset="0"/>
              </a:rPr>
              <a:t>Reduces overfitting </a:t>
            </a:r>
          </a:p>
          <a:p>
            <a:r>
              <a:rPr lang="en-IN" sz="2000" dirty="0">
                <a:solidFill>
                  <a:srgbClr val="000000"/>
                </a:solidFill>
                <a:latin typeface="Times New Roman" panose="02020603050405020304" pitchFamily="18" charset="0"/>
                <a:cs typeface="Times New Roman" panose="02020603050405020304" pitchFamily="18" charset="0"/>
              </a:rPr>
              <a:t>Ensures model stability </a:t>
            </a:r>
          </a:p>
          <a:p>
            <a:r>
              <a:rPr lang="en-IN" sz="2000" dirty="0">
                <a:solidFill>
                  <a:srgbClr val="000000"/>
                </a:solidFill>
                <a:latin typeface="Times New Roman" panose="02020603050405020304" pitchFamily="18" charset="0"/>
                <a:cs typeface="Times New Roman" panose="02020603050405020304" pitchFamily="18" charset="0"/>
              </a:rPr>
              <a:t>Evaluates performance on different subsets of data</a:t>
            </a:r>
          </a:p>
          <a:p>
            <a:pPr marL="114300" indent="0">
              <a:buNone/>
            </a:pPr>
            <a:r>
              <a:rPr lang="en-IN" sz="2000" b="1" dirty="0">
                <a:solidFill>
                  <a:srgbClr val="000000"/>
                </a:solidFill>
                <a:latin typeface="Times New Roman" panose="02020603050405020304" pitchFamily="18" charset="0"/>
                <a:cs typeface="Times New Roman" panose="02020603050405020304" pitchFamily="18" charset="0"/>
              </a:rPr>
              <a:t>Average cross-validation R² score:</a:t>
            </a:r>
          </a:p>
          <a:p>
            <a:pPr marL="114300" indent="0">
              <a:buNone/>
            </a:pPr>
            <a:endParaRPr lang="en-IN" sz="1800" dirty="0"/>
          </a:p>
        </p:txBody>
      </p:sp>
      <p:pic>
        <p:nvPicPr>
          <p:cNvPr id="3" name="Picture 2">
            <a:extLst>
              <a:ext uri="{FF2B5EF4-FFF2-40B4-BE49-F238E27FC236}">
                <a16:creationId xmlns:a16="http://schemas.microsoft.com/office/drawing/2014/main" id="{79935D37-19D7-6131-C5C4-B14F8FBDE691}"/>
              </a:ext>
            </a:extLst>
          </p:cNvPr>
          <p:cNvPicPr>
            <a:picLocks noChangeAspect="1"/>
          </p:cNvPicPr>
          <p:nvPr/>
        </p:nvPicPr>
        <p:blipFill>
          <a:blip r:embed="rId2"/>
          <a:stretch>
            <a:fillRect/>
          </a:stretch>
        </p:blipFill>
        <p:spPr>
          <a:xfrm>
            <a:off x="3397046" y="4352048"/>
            <a:ext cx="5397908" cy="1399904"/>
          </a:xfrm>
          <a:prstGeom prst="rect">
            <a:avLst/>
          </a:prstGeom>
        </p:spPr>
      </p:pic>
      <p:pic>
        <p:nvPicPr>
          <p:cNvPr id="4" name="Picture 3">
            <a:extLst>
              <a:ext uri="{FF2B5EF4-FFF2-40B4-BE49-F238E27FC236}">
                <a16:creationId xmlns:a16="http://schemas.microsoft.com/office/drawing/2014/main" id="{093D46C6-013C-F48D-6107-2BA11536753C}"/>
              </a:ext>
            </a:extLst>
          </p:cNvPr>
          <p:cNvPicPr>
            <a:picLocks noChangeAspect="1"/>
          </p:cNvPicPr>
          <p:nvPr/>
        </p:nvPicPr>
        <p:blipFill>
          <a:blip r:embed="rId3"/>
          <a:stretch>
            <a:fillRect/>
          </a:stretch>
        </p:blipFill>
        <p:spPr>
          <a:xfrm>
            <a:off x="0" y="121113"/>
            <a:ext cx="1748589" cy="894735"/>
          </a:xfrm>
          <a:prstGeom prst="rect">
            <a:avLst/>
          </a:prstGeom>
        </p:spPr>
      </p:pic>
    </p:spTree>
    <p:extLst>
      <p:ext uri="{BB962C8B-B14F-4D97-AF65-F5344CB8AC3E}">
        <p14:creationId xmlns:p14="http://schemas.microsoft.com/office/powerpoint/2010/main" val="1435210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E5DD34B-1E89-4A36-AB8C-1D31C10CE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D1BD29F-B28D-197B-E093-11EEC1DB7DB7}"/>
              </a:ext>
            </a:extLst>
          </p:cNvPr>
          <p:cNvSpPr>
            <a:spLocks noGrp="1"/>
          </p:cNvSpPr>
          <p:nvPr>
            <p:ph type="title"/>
          </p:nvPr>
        </p:nvSpPr>
        <p:spPr>
          <a:xfrm>
            <a:off x="842751" y="247758"/>
            <a:ext cx="10515600" cy="641446"/>
          </a:xfrm>
        </p:spPr>
        <p:txBody>
          <a:bodyPr>
            <a:noAutofit/>
          </a:bodyPr>
          <a:lstStyle/>
          <a:p>
            <a:pPr algn="ctr"/>
            <a:br>
              <a:rPr lang="en-US" b="1" u="sng" dirty="0">
                <a:solidFill>
                  <a:srgbClr val="FF0000"/>
                </a:solidFill>
                <a:latin typeface="Times New Roman" panose="02020603050405020304" pitchFamily="18" charset="0"/>
                <a:cs typeface="Times New Roman" panose="02020603050405020304" pitchFamily="18" charset="0"/>
              </a:rPr>
            </a:br>
            <a:r>
              <a:rPr lang="en-US" b="1" u="sng" dirty="0">
                <a:solidFill>
                  <a:srgbClr val="FF0000"/>
                </a:solidFill>
                <a:latin typeface="Times New Roman" panose="02020603050405020304" pitchFamily="18" charset="0"/>
                <a:cs typeface="Times New Roman" panose="02020603050405020304" pitchFamily="18" charset="0"/>
              </a:rPr>
              <a:t>Hyperparameter Tuning</a:t>
            </a:r>
            <a:br>
              <a:rPr lang="en-US" b="1" u="sng" dirty="0">
                <a:solidFill>
                  <a:srgbClr val="FF0000"/>
                </a:solidFill>
                <a:latin typeface="Times New Roman" panose="02020603050405020304" pitchFamily="18" charset="0"/>
                <a:cs typeface="Times New Roman" panose="02020603050405020304" pitchFamily="18" charset="0"/>
              </a:rPr>
            </a:br>
            <a:endParaRPr lang="en-US" b="1" u="sng" dirty="0">
              <a:solidFill>
                <a:srgbClr val="FF0000"/>
              </a:solidFill>
              <a:latin typeface="Times New Roman" panose="02020603050405020304" pitchFamily="18" charset="0"/>
              <a:cs typeface="Times New Roman" panose="02020603050405020304" pitchFamily="18" charset="0"/>
            </a:endParaRPr>
          </a:p>
        </p:txBody>
      </p:sp>
      <p:sp>
        <p:nvSpPr>
          <p:cNvPr id="8" name="Text Placeholder 7">
            <a:extLst>
              <a:ext uri="{FF2B5EF4-FFF2-40B4-BE49-F238E27FC236}">
                <a16:creationId xmlns:a16="http://schemas.microsoft.com/office/drawing/2014/main" id="{82662B0E-3D2D-859B-7126-DCC04446EB91}"/>
              </a:ext>
            </a:extLst>
          </p:cNvPr>
          <p:cNvSpPr>
            <a:spLocks noGrp="1"/>
          </p:cNvSpPr>
          <p:nvPr>
            <p:ph type="body" idx="1"/>
          </p:nvPr>
        </p:nvSpPr>
        <p:spPr>
          <a:xfrm>
            <a:off x="1748413" y="889204"/>
            <a:ext cx="10293460" cy="5653540"/>
          </a:xfrm>
        </p:spPr>
        <p:txBody>
          <a:bodyPr>
            <a:normAutofit/>
          </a:bodyPr>
          <a:lstStyle/>
          <a:p>
            <a:pPr marL="114300" indent="0">
              <a:buNone/>
            </a:pPr>
            <a:r>
              <a:rPr lang="en-IN" sz="2200" b="1" u="sng" dirty="0">
                <a:solidFill>
                  <a:srgbClr val="000000"/>
                </a:solidFill>
                <a:latin typeface="Times New Roman" panose="02020603050405020304" pitchFamily="18" charset="0"/>
                <a:cs typeface="Times New Roman" panose="02020603050405020304" pitchFamily="18" charset="0"/>
              </a:rPr>
              <a:t>Technique Used</a:t>
            </a:r>
            <a:r>
              <a:rPr lang="en-IN" sz="2000" b="1" u="sng" dirty="0">
                <a:solidFill>
                  <a:srgbClr val="000000"/>
                </a:solidFill>
                <a:latin typeface="Times New Roman" panose="02020603050405020304" pitchFamily="18" charset="0"/>
                <a:cs typeface="Times New Roman" panose="02020603050405020304" pitchFamily="18" charset="0"/>
              </a:rPr>
              <a:t>:</a:t>
            </a:r>
            <a:r>
              <a:rPr lang="en-IN" sz="2000" u="sng" dirty="0">
                <a:solidFill>
                  <a:srgbClr val="000000"/>
                </a:solidFill>
                <a:latin typeface="Times New Roman" panose="02020603050405020304" pitchFamily="18" charset="0"/>
                <a:cs typeface="Times New Roman" panose="02020603050405020304" pitchFamily="18" charset="0"/>
              </a:rPr>
              <a:t> </a:t>
            </a:r>
            <a:r>
              <a:rPr lang="en-IN" sz="2000" dirty="0" err="1">
                <a:solidFill>
                  <a:srgbClr val="000000"/>
                </a:solidFill>
                <a:latin typeface="Times New Roman" panose="02020603050405020304" pitchFamily="18" charset="0"/>
                <a:cs typeface="Times New Roman" panose="02020603050405020304" pitchFamily="18" charset="0"/>
              </a:rPr>
              <a:t>RandomizedSearchCV</a:t>
            </a:r>
            <a:r>
              <a:rPr lang="en-IN" sz="2000" dirty="0">
                <a:solidFill>
                  <a:srgbClr val="000000"/>
                </a:solidFill>
                <a:latin typeface="Times New Roman" panose="02020603050405020304" pitchFamily="18" charset="0"/>
                <a:cs typeface="Times New Roman" panose="02020603050405020304" pitchFamily="18" charset="0"/>
              </a:rPr>
              <a:t> </a:t>
            </a:r>
          </a:p>
          <a:p>
            <a:pPr marL="114300" indent="0">
              <a:buNone/>
            </a:pPr>
            <a:r>
              <a:rPr lang="en-IN" sz="2000" b="1" dirty="0">
                <a:solidFill>
                  <a:srgbClr val="000000"/>
                </a:solidFill>
                <a:latin typeface="Times New Roman" panose="02020603050405020304" pitchFamily="18" charset="0"/>
                <a:cs typeface="Times New Roman" panose="02020603050405020304" pitchFamily="18" charset="0"/>
              </a:rPr>
              <a:t>Purpose:</a:t>
            </a:r>
          </a:p>
          <a:p>
            <a:r>
              <a:rPr lang="en-IN" sz="2000" dirty="0">
                <a:solidFill>
                  <a:srgbClr val="000000"/>
                </a:solidFill>
                <a:latin typeface="Times New Roman" panose="02020603050405020304" pitchFamily="18" charset="0"/>
                <a:cs typeface="Times New Roman" panose="02020603050405020304" pitchFamily="18" charset="0"/>
              </a:rPr>
              <a:t>Find the optimal hyperparameter combination </a:t>
            </a:r>
          </a:p>
          <a:p>
            <a:r>
              <a:rPr lang="en-IN" sz="2000" dirty="0">
                <a:solidFill>
                  <a:srgbClr val="000000"/>
                </a:solidFill>
                <a:latin typeface="Times New Roman" panose="02020603050405020304" pitchFamily="18" charset="0"/>
                <a:cs typeface="Times New Roman" panose="02020603050405020304" pitchFamily="18" charset="0"/>
              </a:rPr>
              <a:t>Improve model accuracy </a:t>
            </a:r>
          </a:p>
          <a:p>
            <a:r>
              <a:rPr lang="en-IN" sz="2000" dirty="0">
                <a:solidFill>
                  <a:srgbClr val="000000"/>
                </a:solidFill>
                <a:latin typeface="Times New Roman" panose="02020603050405020304" pitchFamily="18" charset="0"/>
                <a:cs typeface="Times New Roman" panose="02020603050405020304" pitchFamily="18" charset="0"/>
              </a:rPr>
              <a:t>Reduce overfitting</a:t>
            </a:r>
          </a:p>
          <a:p>
            <a:pPr marL="114300" indent="0">
              <a:buNone/>
            </a:pPr>
            <a:endParaRPr lang="en-IN" sz="2000" dirty="0"/>
          </a:p>
          <a:p>
            <a:pPr marL="114300" indent="0">
              <a:buNone/>
            </a:pPr>
            <a:endParaRPr lang="en-IN" sz="2000" b="1" dirty="0"/>
          </a:p>
          <a:p>
            <a:pPr marL="114300" indent="0">
              <a:buNone/>
            </a:pPr>
            <a:endParaRPr lang="en-IN" sz="1800" dirty="0"/>
          </a:p>
        </p:txBody>
      </p:sp>
      <p:graphicFrame>
        <p:nvGraphicFramePr>
          <p:cNvPr id="4" name="Table 3">
            <a:extLst>
              <a:ext uri="{FF2B5EF4-FFF2-40B4-BE49-F238E27FC236}">
                <a16:creationId xmlns:a16="http://schemas.microsoft.com/office/drawing/2014/main" id="{EB4EC898-3FD8-96B7-BCF2-C3EDB9958AEA}"/>
              </a:ext>
            </a:extLst>
          </p:cNvPr>
          <p:cNvGraphicFramePr>
            <a:graphicFrameLocks noGrp="1"/>
          </p:cNvGraphicFramePr>
          <p:nvPr>
            <p:extLst>
              <p:ext uri="{D42A27DB-BD31-4B8C-83A1-F6EECF244321}">
                <p14:modId xmlns:p14="http://schemas.microsoft.com/office/powerpoint/2010/main" val="1483084875"/>
              </p:ext>
            </p:extLst>
          </p:nvPr>
        </p:nvGraphicFramePr>
        <p:xfrm>
          <a:off x="1691149" y="3035192"/>
          <a:ext cx="9832258" cy="2346960"/>
        </p:xfrm>
        <a:graphic>
          <a:graphicData uri="http://schemas.openxmlformats.org/drawingml/2006/table">
            <a:tbl>
              <a:tblPr/>
              <a:tblGrid>
                <a:gridCol w="4876396">
                  <a:extLst>
                    <a:ext uri="{9D8B030D-6E8A-4147-A177-3AD203B41FA5}">
                      <a16:colId xmlns:a16="http://schemas.microsoft.com/office/drawing/2014/main" val="3505363369"/>
                    </a:ext>
                  </a:extLst>
                </a:gridCol>
                <a:gridCol w="4955862">
                  <a:extLst>
                    <a:ext uri="{9D8B030D-6E8A-4147-A177-3AD203B41FA5}">
                      <a16:colId xmlns:a16="http://schemas.microsoft.com/office/drawing/2014/main" val="1238075761"/>
                    </a:ext>
                  </a:extLst>
                </a:gridCol>
              </a:tblGrid>
              <a:tr h="267798">
                <a:tc>
                  <a:txBody>
                    <a:bodyPr/>
                    <a:lstStyle/>
                    <a:p>
                      <a:pPr>
                        <a:buNone/>
                      </a:pPr>
                      <a:r>
                        <a:rPr lang="en-IN" sz="1600">
                          <a:latin typeface="Times New Roman" panose="02020603050405020304" pitchFamily="18" charset="0"/>
                          <a:cs typeface="Times New Roman" panose="02020603050405020304" pitchFamily="18" charset="0"/>
                        </a:rPr>
                        <a:t>Hyperparameter</a:t>
                      </a:r>
                    </a:p>
                  </a:txBody>
                  <a:tcPr anchor="ctr">
                    <a:lnL>
                      <a:noFill/>
                    </a:lnL>
                    <a:lnR>
                      <a:noFill/>
                    </a:lnR>
                    <a:lnT>
                      <a:noFill/>
                    </a:lnT>
                    <a:lnB>
                      <a:noFill/>
                    </a:lnB>
                    <a:noFill/>
                  </a:tcPr>
                </a:tc>
                <a:tc>
                  <a:txBody>
                    <a:bodyPr/>
                    <a:lstStyle/>
                    <a:p>
                      <a:pPr>
                        <a:buNone/>
                      </a:pPr>
                      <a:r>
                        <a:rPr lang="en-IN" sz="1600">
                          <a:latin typeface="Times New Roman" panose="02020603050405020304" pitchFamily="18" charset="0"/>
                          <a:cs typeface="Times New Roman" panose="02020603050405020304" pitchFamily="18" charset="0"/>
                        </a:rPr>
                        <a:t>Best Value</a:t>
                      </a:r>
                    </a:p>
                  </a:txBody>
                  <a:tcPr anchor="ctr">
                    <a:lnL>
                      <a:noFill/>
                    </a:lnL>
                    <a:lnR>
                      <a:noFill/>
                    </a:lnR>
                    <a:lnT>
                      <a:noFill/>
                    </a:lnT>
                    <a:lnB>
                      <a:noFill/>
                    </a:lnB>
                    <a:noFill/>
                  </a:tcPr>
                </a:tc>
                <a:extLst>
                  <a:ext uri="{0D108BD9-81ED-4DB2-BD59-A6C34878D82A}">
                    <a16:rowId xmlns:a16="http://schemas.microsoft.com/office/drawing/2014/main" val="1077252948"/>
                  </a:ext>
                </a:extLst>
              </a:tr>
              <a:tr h="267798">
                <a:tc>
                  <a:txBody>
                    <a:bodyPr/>
                    <a:lstStyle/>
                    <a:p>
                      <a:pPr>
                        <a:buNone/>
                      </a:pPr>
                      <a:r>
                        <a:rPr lang="en-IN" sz="1600" dirty="0" err="1">
                          <a:latin typeface="Times New Roman" panose="02020603050405020304" pitchFamily="18" charset="0"/>
                          <a:cs typeface="Times New Roman" panose="02020603050405020304" pitchFamily="18" charset="0"/>
                        </a:rPr>
                        <a:t>n_estimators</a:t>
                      </a:r>
                      <a:endParaRPr lang="en-IN" sz="16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GB" sz="1600" i="1" dirty="0">
                          <a:latin typeface="Times New Roman" panose="02020603050405020304" pitchFamily="18" charset="0"/>
                          <a:cs typeface="Times New Roman" panose="02020603050405020304" pitchFamily="18" charset="0"/>
                        </a:rPr>
                        <a:t>2</a:t>
                      </a:r>
                      <a:r>
                        <a:rPr lang="en-IN" sz="1600" i="1" dirty="0">
                          <a:latin typeface="Times New Roman" panose="02020603050405020304" pitchFamily="18" charset="0"/>
                          <a:cs typeface="Times New Roman" panose="02020603050405020304" pitchFamily="18" charset="0"/>
                        </a:rPr>
                        <a:t>00</a:t>
                      </a:r>
                      <a:endParaRPr lang="en-IN" sz="16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92218034"/>
                  </a:ext>
                </a:extLst>
              </a:tr>
              <a:tr h="267798">
                <a:tc>
                  <a:txBody>
                    <a:bodyPr/>
                    <a:lstStyle/>
                    <a:p>
                      <a:pPr>
                        <a:buNone/>
                      </a:pPr>
                      <a:r>
                        <a:rPr lang="en-IN" sz="1600" dirty="0" err="1">
                          <a:latin typeface="Times New Roman" panose="02020603050405020304" pitchFamily="18" charset="0"/>
                          <a:cs typeface="Times New Roman" panose="02020603050405020304" pitchFamily="18" charset="0"/>
                        </a:rPr>
                        <a:t>learning_rate</a:t>
                      </a:r>
                      <a:endParaRPr lang="en-IN" sz="16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GB" sz="1600" i="1" dirty="0">
                          <a:latin typeface="Times New Roman" panose="02020603050405020304" pitchFamily="18" charset="0"/>
                          <a:cs typeface="Times New Roman" panose="02020603050405020304" pitchFamily="18" charset="0"/>
                        </a:rPr>
                        <a:t>0</a:t>
                      </a:r>
                      <a:r>
                        <a:rPr lang="en-IN" sz="1600" i="1" dirty="0">
                          <a:latin typeface="Times New Roman" panose="02020603050405020304" pitchFamily="18" charset="0"/>
                          <a:cs typeface="Times New Roman" panose="02020603050405020304" pitchFamily="18" charset="0"/>
                        </a:rPr>
                        <a:t>.05</a:t>
                      </a:r>
                      <a:endParaRPr lang="en-IN" sz="16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3936256991"/>
                  </a:ext>
                </a:extLst>
              </a:tr>
              <a:tr h="267798">
                <a:tc>
                  <a:txBody>
                    <a:bodyPr/>
                    <a:lstStyle/>
                    <a:p>
                      <a:pPr>
                        <a:buNone/>
                      </a:pPr>
                      <a:r>
                        <a:rPr lang="en-IN" sz="1600">
                          <a:latin typeface="Times New Roman" panose="02020603050405020304" pitchFamily="18" charset="0"/>
                          <a:cs typeface="Times New Roman" panose="02020603050405020304" pitchFamily="18" charset="0"/>
                        </a:rPr>
                        <a:t>max_depth</a:t>
                      </a:r>
                    </a:p>
                  </a:txBody>
                  <a:tcPr anchor="ctr">
                    <a:lnL>
                      <a:noFill/>
                    </a:lnL>
                    <a:lnR>
                      <a:noFill/>
                    </a:lnR>
                    <a:lnT>
                      <a:noFill/>
                    </a:lnT>
                    <a:lnB>
                      <a:noFill/>
                    </a:lnB>
                    <a:noFill/>
                  </a:tcPr>
                </a:tc>
                <a:tc>
                  <a:txBody>
                    <a:bodyPr/>
                    <a:lstStyle/>
                    <a:p>
                      <a:pPr>
                        <a:buNone/>
                      </a:pPr>
                      <a:r>
                        <a:rPr lang="en-GB" sz="1600" i="1" dirty="0">
                          <a:latin typeface="Times New Roman" panose="02020603050405020304" pitchFamily="18" charset="0"/>
                          <a:cs typeface="Times New Roman" panose="02020603050405020304" pitchFamily="18" charset="0"/>
                        </a:rPr>
                        <a:t>7</a:t>
                      </a:r>
                      <a:endParaRPr lang="en-IN" sz="16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990125976"/>
                  </a:ext>
                </a:extLst>
              </a:tr>
              <a:tr h="267798">
                <a:tc>
                  <a:txBody>
                    <a:bodyPr/>
                    <a:lstStyle/>
                    <a:p>
                      <a:pPr>
                        <a:buNone/>
                      </a:pPr>
                      <a:r>
                        <a:rPr lang="en-IN" sz="1600" dirty="0">
                          <a:latin typeface="Times New Roman" panose="02020603050405020304" pitchFamily="18" charset="0"/>
                          <a:cs typeface="Times New Roman" panose="02020603050405020304" pitchFamily="18" charset="0"/>
                        </a:rPr>
                        <a:t>subsample</a:t>
                      </a:r>
                    </a:p>
                  </a:txBody>
                  <a:tcPr anchor="ctr">
                    <a:lnL>
                      <a:noFill/>
                    </a:lnL>
                    <a:lnR>
                      <a:noFill/>
                    </a:lnR>
                    <a:lnT>
                      <a:noFill/>
                    </a:lnT>
                    <a:lnB>
                      <a:noFill/>
                    </a:lnB>
                    <a:noFill/>
                  </a:tcPr>
                </a:tc>
                <a:tc>
                  <a:txBody>
                    <a:bodyPr/>
                    <a:lstStyle/>
                    <a:p>
                      <a:pPr>
                        <a:buNone/>
                      </a:pPr>
                      <a:r>
                        <a:rPr lang="en-GB" sz="1600" i="1" dirty="0">
                          <a:latin typeface="Times New Roman" panose="02020603050405020304" pitchFamily="18" charset="0"/>
                          <a:cs typeface="Times New Roman" panose="02020603050405020304" pitchFamily="18" charset="0"/>
                        </a:rPr>
                        <a:t>1.0</a:t>
                      </a:r>
                      <a:endParaRPr lang="en-IN" sz="16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129784712"/>
                  </a:ext>
                </a:extLst>
              </a:tr>
              <a:tr h="267798">
                <a:tc>
                  <a:txBody>
                    <a:bodyPr/>
                    <a:lstStyle/>
                    <a:p>
                      <a:pPr>
                        <a:buNone/>
                      </a:pPr>
                      <a:r>
                        <a:rPr lang="en-IN" sz="1600">
                          <a:latin typeface="Times New Roman" panose="02020603050405020304" pitchFamily="18" charset="0"/>
                          <a:cs typeface="Times New Roman" panose="02020603050405020304" pitchFamily="18" charset="0"/>
                        </a:rPr>
                        <a:t>colsample_bytree</a:t>
                      </a:r>
                    </a:p>
                  </a:txBody>
                  <a:tcPr anchor="ctr">
                    <a:lnL>
                      <a:noFill/>
                    </a:lnL>
                    <a:lnR>
                      <a:noFill/>
                    </a:lnR>
                    <a:lnT>
                      <a:noFill/>
                    </a:lnT>
                    <a:lnB>
                      <a:noFill/>
                    </a:lnB>
                    <a:noFill/>
                  </a:tcPr>
                </a:tc>
                <a:tc>
                  <a:txBody>
                    <a:bodyPr/>
                    <a:lstStyle/>
                    <a:p>
                      <a:pPr>
                        <a:buNone/>
                      </a:pPr>
                      <a:r>
                        <a:rPr lang="en-GB" sz="1600" i="1" dirty="0">
                          <a:latin typeface="Times New Roman" panose="02020603050405020304" pitchFamily="18" charset="0"/>
                          <a:cs typeface="Times New Roman" panose="02020603050405020304" pitchFamily="18" charset="0"/>
                        </a:rPr>
                        <a:t>1</a:t>
                      </a:r>
                      <a:r>
                        <a:rPr lang="en-IN" sz="1600" i="1" dirty="0">
                          <a:latin typeface="Times New Roman" panose="02020603050405020304" pitchFamily="18" charset="0"/>
                          <a:cs typeface="Times New Roman" panose="02020603050405020304" pitchFamily="18" charset="0"/>
                        </a:rPr>
                        <a:t>.0</a:t>
                      </a:r>
                      <a:endParaRPr lang="en-IN" sz="16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58471275"/>
                  </a:ext>
                </a:extLst>
              </a:tr>
              <a:tr h="267798">
                <a:tc>
                  <a:txBody>
                    <a:bodyPr/>
                    <a:lstStyle/>
                    <a:p>
                      <a:pPr>
                        <a:buNone/>
                      </a:pPr>
                      <a:endParaRPr lang="en-IN" sz="16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endParaRPr lang="en-IN" sz="1600" dirty="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extLst>
                  <a:ext uri="{0D108BD9-81ED-4DB2-BD59-A6C34878D82A}">
                    <a16:rowId xmlns:a16="http://schemas.microsoft.com/office/drawing/2014/main" val="1214669647"/>
                  </a:ext>
                </a:extLst>
              </a:tr>
            </a:tbl>
          </a:graphicData>
        </a:graphic>
      </p:graphicFrame>
      <p:sp>
        <p:nvSpPr>
          <p:cNvPr id="9" name="TextBox 8">
            <a:extLst>
              <a:ext uri="{FF2B5EF4-FFF2-40B4-BE49-F238E27FC236}">
                <a16:creationId xmlns:a16="http://schemas.microsoft.com/office/drawing/2014/main" id="{C843F8CE-2B51-29EF-BA0D-22218D5569E6}"/>
              </a:ext>
            </a:extLst>
          </p:cNvPr>
          <p:cNvSpPr txBox="1"/>
          <p:nvPr/>
        </p:nvSpPr>
        <p:spPr>
          <a:xfrm>
            <a:off x="353962" y="4900619"/>
            <a:ext cx="7034444" cy="707886"/>
          </a:xfrm>
          <a:prstGeom prst="rect">
            <a:avLst/>
          </a:prstGeom>
          <a:noFill/>
        </p:spPr>
        <p:txBody>
          <a:bodyPr wrap="square">
            <a:spAutoFit/>
          </a:bodyPr>
          <a:lstStyle/>
          <a:p>
            <a:pPr marL="285750" indent="-285750">
              <a:buFont typeface="Wingdings" panose="05000000000000000000" pitchFamily="2" charset="2"/>
              <a:buChar char="à"/>
            </a:pPr>
            <a:r>
              <a:rPr lang="en-IN"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XGBoost</a:t>
            </a:r>
            <a:r>
              <a:rPr lang="en-IN"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model was rebuilt using these optimized parameters</a:t>
            </a:r>
            <a:r>
              <a:rPr lang="en-IN" sz="2000" dirty="0">
                <a:solidFill>
                  <a:srgbClr val="000000"/>
                </a:solidFill>
                <a:latin typeface="Times New Roman" panose="02020603050405020304" pitchFamily="18" charset="0"/>
                <a:cs typeface="Times New Roman" panose="02020603050405020304" pitchFamily="18" charset="0"/>
              </a:rPr>
              <a:t>.</a:t>
            </a:r>
          </a:p>
          <a:p>
            <a:r>
              <a:rPr lang="en-IN" sz="2000" b="1" u="sng"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Final </a:t>
            </a:r>
            <a:r>
              <a:rPr lang="en-IN" sz="2000" b="1" u="sng"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Comparision</a:t>
            </a:r>
            <a:r>
              <a:rPr lang="en-IN" sz="2000" b="1" u="sng"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after Tuning</a:t>
            </a:r>
          </a:p>
        </p:txBody>
      </p:sp>
      <p:graphicFrame>
        <p:nvGraphicFramePr>
          <p:cNvPr id="12" name="Table 11">
            <a:extLst>
              <a:ext uri="{FF2B5EF4-FFF2-40B4-BE49-F238E27FC236}">
                <a16:creationId xmlns:a16="http://schemas.microsoft.com/office/drawing/2014/main" id="{A9B6CF3A-B67E-A229-2110-70EEC933667C}"/>
              </a:ext>
            </a:extLst>
          </p:cNvPr>
          <p:cNvGraphicFramePr>
            <a:graphicFrameLocks noGrp="1"/>
          </p:cNvGraphicFramePr>
          <p:nvPr>
            <p:extLst>
              <p:ext uri="{D42A27DB-BD31-4B8C-83A1-F6EECF244321}">
                <p14:modId xmlns:p14="http://schemas.microsoft.com/office/powerpoint/2010/main" val="3786848872"/>
              </p:ext>
            </p:extLst>
          </p:nvPr>
        </p:nvGraphicFramePr>
        <p:xfrm>
          <a:off x="544844" y="5693974"/>
          <a:ext cx="8127999" cy="7416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753608227"/>
                    </a:ext>
                  </a:extLst>
                </a:gridCol>
                <a:gridCol w="2709333">
                  <a:extLst>
                    <a:ext uri="{9D8B030D-6E8A-4147-A177-3AD203B41FA5}">
                      <a16:colId xmlns:a16="http://schemas.microsoft.com/office/drawing/2014/main" val="3930017062"/>
                    </a:ext>
                  </a:extLst>
                </a:gridCol>
                <a:gridCol w="2709333">
                  <a:extLst>
                    <a:ext uri="{9D8B030D-6E8A-4147-A177-3AD203B41FA5}">
                      <a16:colId xmlns:a16="http://schemas.microsoft.com/office/drawing/2014/main" val="389810608"/>
                    </a:ext>
                  </a:extLst>
                </a:gridCol>
              </a:tblGrid>
              <a:tr h="370840">
                <a:tc>
                  <a:txBody>
                    <a:bodyPr/>
                    <a:lstStyle/>
                    <a:p>
                      <a:r>
                        <a:rPr lang="en-GB" dirty="0"/>
                        <a:t>Model</a:t>
                      </a:r>
                      <a:endParaRPr lang="en-IN" dirty="0"/>
                    </a:p>
                  </a:txBody>
                  <a:tcPr/>
                </a:tc>
                <a:tc>
                  <a:txBody>
                    <a:bodyPr/>
                    <a:lstStyle/>
                    <a:p>
                      <a:r>
                        <a:rPr lang="en-GB" dirty="0"/>
                        <a:t>Training r2</a:t>
                      </a:r>
                      <a:endParaRPr lang="en-IN" dirty="0"/>
                    </a:p>
                  </a:txBody>
                  <a:tcPr/>
                </a:tc>
                <a:tc>
                  <a:txBody>
                    <a:bodyPr/>
                    <a:lstStyle/>
                    <a:p>
                      <a:r>
                        <a:rPr lang="en-GB" dirty="0"/>
                        <a:t>Testing r2</a:t>
                      </a:r>
                      <a:endParaRPr lang="en-IN" dirty="0"/>
                    </a:p>
                  </a:txBody>
                  <a:tcPr/>
                </a:tc>
                <a:extLst>
                  <a:ext uri="{0D108BD9-81ED-4DB2-BD59-A6C34878D82A}">
                    <a16:rowId xmlns:a16="http://schemas.microsoft.com/office/drawing/2014/main" val="3418401793"/>
                  </a:ext>
                </a:extLst>
              </a:tr>
              <a:tr h="370840">
                <a:tc>
                  <a:txBody>
                    <a:bodyPr/>
                    <a:lstStyle/>
                    <a:p>
                      <a:r>
                        <a:rPr lang="en-GB" dirty="0" err="1"/>
                        <a:t>XGBoost</a:t>
                      </a:r>
                      <a:endParaRPr lang="en-IN" dirty="0"/>
                    </a:p>
                  </a:txBody>
                  <a:tcPr/>
                </a:tc>
                <a:tc>
                  <a:txBody>
                    <a:bodyPr/>
                    <a:lstStyle/>
                    <a:p>
                      <a:r>
                        <a:rPr lang="en-IN" sz="1400" b="0" i="0" u="none" strike="noStrike" cap="none" dirty="0">
                          <a:solidFill>
                            <a:schemeClr val="dk1"/>
                          </a:solidFill>
                          <a:effectLst/>
                          <a:latin typeface="+mn-lt"/>
                          <a:ea typeface="+mn-ea"/>
                          <a:cs typeface="+mn-cs"/>
                          <a:sym typeface="Arial"/>
                        </a:rPr>
                        <a:t>0.860773</a:t>
                      </a:r>
                      <a:endParaRPr lang="en-IN" dirty="0"/>
                    </a:p>
                  </a:txBody>
                  <a:tcPr/>
                </a:tc>
                <a:tc>
                  <a:txBody>
                    <a:bodyPr/>
                    <a:lstStyle/>
                    <a:p>
                      <a:r>
                        <a:rPr lang="en-IN" sz="1400" b="0" i="0" u="none" strike="noStrike" cap="none" dirty="0">
                          <a:solidFill>
                            <a:schemeClr val="dk1"/>
                          </a:solidFill>
                          <a:effectLst/>
                          <a:latin typeface="+mn-lt"/>
                          <a:ea typeface="+mn-ea"/>
                          <a:cs typeface="+mn-cs"/>
                          <a:sym typeface="Arial"/>
                        </a:rPr>
                        <a:t>0.814533</a:t>
                      </a:r>
                      <a:endParaRPr lang="en-IN" dirty="0"/>
                    </a:p>
                  </a:txBody>
                  <a:tcPr/>
                </a:tc>
                <a:extLst>
                  <a:ext uri="{0D108BD9-81ED-4DB2-BD59-A6C34878D82A}">
                    <a16:rowId xmlns:a16="http://schemas.microsoft.com/office/drawing/2014/main" val="325674383"/>
                  </a:ext>
                </a:extLst>
              </a:tr>
            </a:tbl>
          </a:graphicData>
        </a:graphic>
      </p:graphicFrame>
      <p:pic>
        <p:nvPicPr>
          <p:cNvPr id="3" name="Picture 2">
            <a:extLst>
              <a:ext uri="{FF2B5EF4-FFF2-40B4-BE49-F238E27FC236}">
                <a16:creationId xmlns:a16="http://schemas.microsoft.com/office/drawing/2014/main" id="{59D672BE-90F4-E10B-2514-7A6CC2BFC667}"/>
              </a:ext>
            </a:extLst>
          </p:cNvPr>
          <p:cNvPicPr>
            <a:picLocks noChangeAspect="1"/>
          </p:cNvPicPr>
          <p:nvPr/>
        </p:nvPicPr>
        <p:blipFill>
          <a:blip r:embed="rId2"/>
          <a:stretch>
            <a:fillRect/>
          </a:stretch>
        </p:blipFill>
        <p:spPr>
          <a:xfrm>
            <a:off x="-57440" y="121113"/>
            <a:ext cx="1748589" cy="894735"/>
          </a:xfrm>
          <a:prstGeom prst="rect">
            <a:avLst/>
          </a:prstGeom>
        </p:spPr>
      </p:pic>
    </p:spTree>
    <p:extLst>
      <p:ext uri="{BB962C8B-B14F-4D97-AF65-F5344CB8AC3E}">
        <p14:creationId xmlns:p14="http://schemas.microsoft.com/office/powerpoint/2010/main" val="3465944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3"/>
        <p:cNvGrpSpPr/>
        <p:nvPr/>
      </p:nvGrpSpPr>
      <p:grpSpPr>
        <a:xfrm>
          <a:off x="0" y="0"/>
          <a:ext cx="0" cy="0"/>
          <a:chOff x="0" y="0"/>
          <a:chExt cx="0" cy="0"/>
        </a:xfrm>
      </p:grpSpPr>
      <p:sp>
        <p:nvSpPr>
          <p:cNvPr id="4" name="Title 3"/>
          <p:cNvSpPr>
            <a:spLocks noGrp="1"/>
          </p:cNvSpPr>
          <p:nvPr>
            <p:ph type="title"/>
          </p:nvPr>
        </p:nvSpPr>
        <p:spPr>
          <a:xfrm>
            <a:off x="838200" y="119467"/>
            <a:ext cx="10515600" cy="699400"/>
          </a:xfrm>
        </p:spPr>
        <p:txBody>
          <a:bodyPr/>
          <a:lstStyle/>
          <a:p>
            <a:pPr algn="ctr"/>
            <a:r>
              <a:rPr lang="en-US" b="1" u="sng" dirty="0">
                <a:solidFill>
                  <a:srgbClr val="FF0000"/>
                </a:solidFill>
                <a:latin typeface="Times New Roman" panose="02020603050405020304" pitchFamily="18" charset="0"/>
                <a:cs typeface="Times New Roman" panose="02020603050405020304" pitchFamily="18" charset="0"/>
              </a:rPr>
              <a:t>Final Pipeline of Model</a:t>
            </a:r>
          </a:p>
        </p:txBody>
      </p:sp>
      <p:pic>
        <p:nvPicPr>
          <p:cNvPr id="3" name="Picture 2">
            <a:extLst>
              <a:ext uri="{FF2B5EF4-FFF2-40B4-BE49-F238E27FC236}">
                <a16:creationId xmlns:a16="http://schemas.microsoft.com/office/drawing/2014/main" id="{7F090453-F70E-DDCB-5FFA-22C4CB6481FA}"/>
              </a:ext>
            </a:extLst>
          </p:cNvPr>
          <p:cNvPicPr>
            <a:picLocks noChangeAspect="1"/>
          </p:cNvPicPr>
          <p:nvPr/>
        </p:nvPicPr>
        <p:blipFill>
          <a:blip r:embed="rId3"/>
          <a:stretch>
            <a:fillRect/>
          </a:stretch>
        </p:blipFill>
        <p:spPr>
          <a:xfrm>
            <a:off x="602901" y="2662642"/>
            <a:ext cx="10530673" cy="3396513"/>
          </a:xfrm>
          <a:prstGeom prst="rect">
            <a:avLst/>
          </a:prstGeom>
        </p:spPr>
      </p:pic>
      <p:sp>
        <p:nvSpPr>
          <p:cNvPr id="7" name="TextBox 6">
            <a:extLst>
              <a:ext uri="{FF2B5EF4-FFF2-40B4-BE49-F238E27FC236}">
                <a16:creationId xmlns:a16="http://schemas.microsoft.com/office/drawing/2014/main" id="{8E3067C3-E13E-621B-C099-AD0DE40757CB}"/>
              </a:ext>
            </a:extLst>
          </p:cNvPr>
          <p:cNvSpPr txBox="1"/>
          <p:nvPr/>
        </p:nvSpPr>
        <p:spPr>
          <a:xfrm>
            <a:off x="0" y="1714928"/>
            <a:ext cx="12192000" cy="707886"/>
          </a:xfrm>
          <a:prstGeom prst="rect">
            <a:avLst/>
          </a:prstGeom>
          <a:noFill/>
        </p:spPr>
        <p:txBody>
          <a:bodyPr wrap="square">
            <a:spAutoFit/>
          </a:bodyPr>
          <a:lstStyle/>
          <a:p>
            <a:pPr marL="285750" indent="-285750">
              <a:buFont typeface="Arial" panose="020B0604020202020204" pitchFamily="34" charset="0"/>
              <a:buChar char="•"/>
            </a:pPr>
            <a:r>
              <a:rPr lang="en-IN"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complete preprocessing and model were integrated into a single Scikit-learn Pipeline, simplifying training and deployment.</a:t>
            </a:r>
          </a:p>
        </p:txBody>
      </p:sp>
      <p:pic>
        <p:nvPicPr>
          <p:cNvPr id="5" name="Picture 4">
            <a:extLst>
              <a:ext uri="{FF2B5EF4-FFF2-40B4-BE49-F238E27FC236}">
                <a16:creationId xmlns:a16="http://schemas.microsoft.com/office/drawing/2014/main" id="{0DBE9845-1ED9-B909-47B7-BDDAA4ECE547}"/>
              </a:ext>
            </a:extLst>
          </p:cNvPr>
          <p:cNvPicPr>
            <a:picLocks noChangeAspect="1"/>
          </p:cNvPicPr>
          <p:nvPr/>
        </p:nvPicPr>
        <p:blipFill>
          <a:blip r:embed="rId4"/>
          <a:stretch>
            <a:fillRect/>
          </a:stretch>
        </p:blipFill>
        <p:spPr>
          <a:xfrm>
            <a:off x="-138881" y="163960"/>
            <a:ext cx="1748589" cy="89473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3">
          <a:extLst>
            <a:ext uri="{FF2B5EF4-FFF2-40B4-BE49-F238E27FC236}">
              <a16:creationId xmlns:a16="http://schemas.microsoft.com/office/drawing/2014/main" id="{EE9BC074-4F76-BEF0-0ABA-3E8A5CD1247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05D674F-B8D5-37FE-5DF5-8AC718FAC894}"/>
              </a:ext>
            </a:extLst>
          </p:cNvPr>
          <p:cNvSpPr>
            <a:spLocks noGrp="1"/>
          </p:cNvSpPr>
          <p:nvPr>
            <p:ph type="title"/>
          </p:nvPr>
        </p:nvSpPr>
        <p:spPr>
          <a:xfrm>
            <a:off x="838200" y="119467"/>
            <a:ext cx="10515600" cy="699400"/>
          </a:xfrm>
        </p:spPr>
        <p:txBody>
          <a:bodyPr/>
          <a:lstStyle/>
          <a:p>
            <a:pPr algn="ctr"/>
            <a:r>
              <a:rPr lang="en-US" b="1" u="sng" dirty="0" err="1">
                <a:solidFill>
                  <a:srgbClr val="FF0000"/>
                </a:solidFill>
                <a:latin typeface="Times New Roman" panose="02020603050405020304" pitchFamily="18" charset="0"/>
                <a:cs typeface="Times New Roman" panose="02020603050405020304" pitchFamily="18" charset="0"/>
              </a:rPr>
              <a:t>Streamlit</a:t>
            </a:r>
            <a:r>
              <a:rPr lang="en-US" b="1" u="sng" dirty="0">
                <a:solidFill>
                  <a:srgbClr val="FF0000"/>
                </a:solidFill>
                <a:latin typeface="Times New Roman" panose="02020603050405020304" pitchFamily="18" charset="0"/>
                <a:cs typeface="Times New Roman" panose="02020603050405020304" pitchFamily="18" charset="0"/>
              </a:rPr>
              <a:t> Deployment</a:t>
            </a:r>
          </a:p>
        </p:txBody>
      </p:sp>
      <p:sp>
        <p:nvSpPr>
          <p:cNvPr id="5" name="Text Placeholder 4">
            <a:extLst>
              <a:ext uri="{FF2B5EF4-FFF2-40B4-BE49-F238E27FC236}">
                <a16:creationId xmlns:a16="http://schemas.microsoft.com/office/drawing/2014/main" id="{70941E97-781F-2089-A445-7791A863FB48}"/>
              </a:ext>
            </a:extLst>
          </p:cNvPr>
          <p:cNvSpPr>
            <a:spLocks noGrp="1"/>
          </p:cNvSpPr>
          <p:nvPr>
            <p:ph type="body" idx="1"/>
          </p:nvPr>
        </p:nvSpPr>
        <p:spPr>
          <a:xfrm>
            <a:off x="0" y="1554695"/>
            <a:ext cx="12192000" cy="5303305"/>
          </a:xfrm>
        </p:spPr>
        <p:txBody>
          <a:bodyPr>
            <a:normAutofit/>
          </a:bodyPr>
          <a:lstStyle/>
          <a:p>
            <a:r>
              <a:rPr lang="en-IN" sz="2000" dirty="0">
                <a:solidFill>
                  <a:srgbClr val="000000"/>
                </a:solidFill>
                <a:latin typeface="Times New Roman" panose="02020603050405020304" pitchFamily="18" charset="0"/>
                <a:cs typeface="Times New Roman" panose="02020603050405020304" pitchFamily="18" charset="0"/>
              </a:rPr>
              <a:t>The final trained pipeline was deployed using </a:t>
            </a:r>
            <a:r>
              <a:rPr lang="en-IN" sz="2000" b="1" dirty="0" err="1">
                <a:solidFill>
                  <a:srgbClr val="000000"/>
                </a:solidFill>
                <a:latin typeface="Times New Roman" panose="02020603050405020304" pitchFamily="18" charset="0"/>
                <a:cs typeface="Times New Roman" panose="02020603050405020304" pitchFamily="18" charset="0"/>
              </a:rPr>
              <a:t>Streamlit</a:t>
            </a:r>
            <a:r>
              <a:rPr lang="en-IN" sz="2000" dirty="0">
                <a:solidFill>
                  <a:srgbClr val="000000"/>
                </a:solidFill>
                <a:latin typeface="Times New Roman" panose="02020603050405020304" pitchFamily="18" charset="0"/>
                <a:cs typeface="Times New Roman" panose="02020603050405020304" pitchFamily="18" charset="0"/>
              </a:rPr>
              <a:t>.</a:t>
            </a:r>
          </a:p>
        </p:txBody>
      </p:sp>
      <p:pic>
        <p:nvPicPr>
          <p:cNvPr id="6" name="Picture 5">
            <a:extLst>
              <a:ext uri="{FF2B5EF4-FFF2-40B4-BE49-F238E27FC236}">
                <a16:creationId xmlns:a16="http://schemas.microsoft.com/office/drawing/2014/main" id="{E70D9611-5054-DE1F-8BD8-114BD4FFEA84}"/>
              </a:ext>
            </a:extLst>
          </p:cNvPr>
          <p:cNvPicPr>
            <a:picLocks noChangeAspect="1"/>
          </p:cNvPicPr>
          <p:nvPr/>
        </p:nvPicPr>
        <p:blipFill>
          <a:blip r:embed="rId3"/>
          <a:stretch>
            <a:fillRect/>
          </a:stretch>
        </p:blipFill>
        <p:spPr>
          <a:xfrm>
            <a:off x="117987" y="2203082"/>
            <a:ext cx="5889523" cy="3883086"/>
          </a:xfrm>
          <a:prstGeom prst="rect">
            <a:avLst/>
          </a:prstGeom>
        </p:spPr>
      </p:pic>
      <p:pic>
        <p:nvPicPr>
          <p:cNvPr id="8" name="Picture 7">
            <a:extLst>
              <a:ext uri="{FF2B5EF4-FFF2-40B4-BE49-F238E27FC236}">
                <a16:creationId xmlns:a16="http://schemas.microsoft.com/office/drawing/2014/main" id="{A26FD589-81D3-A26A-48D4-C0D55D8D640A}"/>
              </a:ext>
            </a:extLst>
          </p:cNvPr>
          <p:cNvPicPr>
            <a:picLocks noChangeAspect="1"/>
          </p:cNvPicPr>
          <p:nvPr/>
        </p:nvPicPr>
        <p:blipFill>
          <a:blip r:embed="rId4"/>
          <a:stretch>
            <a:fillRect/>
          </a:stretch>
        </p:blipFill>
        <p:spPr>
          <a:xfrm>
            <a:off x="6007511" y="2203082"/>
            <a:ext cx="6066502" cy="3883085"/>
          </a:xfrm>
          <a:prstGeom prst="rect">
            <a:avLst/>
          </a:prstGeom>
        </p:spPr>
      </p:pic>
      <p:pic>
        <p:nvPicPr>
          <p:cNvPr id="3" name="Picture 2">
            <a:extLst>
              <a:ext uri="{FF2B5EF4-FFF2-40B4-BE49-F238E27FC236}">
                <a16:creationId xmlns:a16="http://schemas.microsoft.com/office/drawing/2014/main" id="{D9AAF52A-FE08-165D-380C-D6D8BB62B330}"/>
              </a:ext>
            </a:extLst>
          </p:cNvPr>
          <p:cNvPicPr>
            <a:picLocks noChangeAspect="1"/>
          </p:cNvPicPr>
          <p:nvPr/>
        </p:nvPicPr>
        <p:blipFill>
          <a:blip r:embed="rId5"/>
          <a:stretch>
            <a:fillRect/>
          </a:stretch>
        </p:blipFill>
        <p:spPr>
          <a:xfrm>
            <a:off x="-135194" y="97021"/>
            <a:ext cx="1748589" cy="894735"/>
          </a:xfrm>
          <a:prstGeom prst="rect">
            <a:avLst/>
          </a:prstGeom>
        </p:spPr>
      </p:pic>
    </p:spTree>
    <p:extLst>
      <p:ext uri="{BB962C8B-B14F-4D97-AF65-F5344CB8AC3E}">
        <p14:creationId xmlns:p14="http://schemas.microsoft.com/office/powerpoint/2010/main" val="3227791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3">
          <a:extLst>
            <a:ext uri="{FF2B5EF4-FFF2-40B4-BE49-F238E27FC236}">
              <a16:creationId xmlns:a16="http://schemas.microsoft.com/office/drawing/2014/main" id="{4BBA4466-57C4-9727-C29A-C4C28E01CD6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4B993BF-9EE5-A334-2E1F-D2F0BFA36FF0}"/>
              </a:ext>
            </a:extLst>
          </p:cNvPr>
          <p:cNvSpPr>
            <a:spLocks noGrp="1"/>
          </p:cNvSpPr>
          <p:nvPr>
            <p:ph type="title"/>
          </p:nvPr>
        </p:nvSpPr>
        <p:spPr>
          <a:xfrm>
            <a:off x="838200" y="119467"/>
            <a:ext cx="10515600" cy="699400"/>
          </a:xfrm>
        </p:spPr>
        <p:txBody>
          <a:bodyPr/>
          <a:lstStyle/>
          <a:p>
            <a:pPr algn="ctr"/>
            <a:r>
              <a:rPr lang="en-US" b="1" u="sng" dirty="0">
                <a:solidFill>
                  <a:srgbClr val="FF0000"/>
                </a:solidFill>
                <a:latin typeface="Times New Roman" panose="02020603050405020304" pitchFamily="18" charset="0"/>
                <a:cs typeface="Times New Roman" panose="02020603050405020304" pitchFamily="18" charset="0"/>
              </a:rPr>
              <a:t>Challenges Faced</a:t>
            </a:r>
          </a:p>
        </p:txBody>
      </p:sp>
      <p:sp>
        <p:nvSpPr>
          <p:cNvPr id="5" name="Text Placeholder 4">
            <a:extLst>
              <a:ext uri="{FF2B5EF4-FFF2-40B4-BE49-F238E27FC236}">
                <a16:creationId xmlns:a16="http://schemas.microsoft.com/office/drawing/2014/main" id="{A9013653-7D2E-386B-6AA9-D288EB138C27}"/>
              </a:ext>
            </a:extLst>
          </p:cNvPr>
          <p:cNvSpPr>
            <a:spLocks noGrp="1"/>
          </p:cNvSpPr>
          <p:nvPr>
            <p:ph type="body" idx="1"/>
          </p:nvPr>
        </p:nvSpPr>
        <p:spPr>
          <a:xfrm>
            <a:off x="132671" y="1726631"/>
            <a:ext cx="11785980" cy="4091366"/>
          </a:xfrm>
        </p:spPr>
        <p:txBody>
          <a:bodyPr>
            <a:normAutofit/>
          </a:bodyPr>
          <a:lstStyle/>
          <a:p>
            <a:pPr marL="114300" indent="0">
              <a:buNone/>
            </a:pPr>
            <a:r>
              <a:rPr lang="en-IN" sz="2000" b="1" u="sng" dirty="0">
                <a:solidFill>
                  <a:srgbClr val="000000"/>
                </a:solidFill>
                <a:latin typeface="Times New Roman" panose="02020603050405020304" pitchFamily="18" charset="0"/>
                <a:cs typeface="Times New Roman" panose="02020603050405020304" pitchFamily="18" charset="0"/>
              </a:rPr>
              <a:t>Handling Missing Values:</a:t>
            </a:r>
            <a:r>
              <a:rPr lang="en-IN" sz="2000" u="sng" dirty="0">
                <a:solidFill>
                  <a:srgbClr val="000000"/>
                </a:solidFill>
                <a:latin typeface="Times New Roman" panose="02020603050405020304" pitchFamily="18" charset="0"/>
                <a:cs typeface="Times New Roman" panose="02020603050405020304" pitchFamily="18" charset="0"/>
              </a:rPr>
              <a:t> </a:t>
            </a:r>
            <a:r>
              <a:rPr lang="en-IN" sz="2000" dirty="0">
                <a:solidFill>
                  <a:srgbClr val="000000"/>
                </a:solidFill>
                <a:latin typeface="Times New Roman" panose="02020603050405020304" pitchFamily="18" charset="0"/>
                <a:cs typeface="Times New Roman" panose="02020603050405020304" pitchFamily="18" charset="0"/>
              </a:rPr>
              <a:t>Managing missing data in both numerical and categorical features without affecting model performance. </a:t>
            </a:r>
          </a:p>
          <a:p>
            <a:pPr marL="114300" indent="0">
              <a:buNone/>
            </a:pPr>
            <a:r>
              <a:rPr lang="en-IN" sz="2000" b="1" u="sng" dirty="0">
                <a:solidFill>
                  <a:srgbClr val="000000"/>
                </a:solidFill>
                <a:latin typeface="Times New Roman" panose="02020603050405020304" pitchFamily="18" charset="0"/>
                <a:cs typeface="Times New Roman" panose="02020603050405020304" pitchFamily="18" charset="0"/>
              </a:rPr>
              <a:t>Feature Engineering:</a:t>
            </a:r>
            <a:r>
              <a:rPr lang="en-IN" sz="2000" u="sng" dirty="0">
                <a:solidFill>
                  <a:srgbClr val="000000"/>
                </a:solidFill>
                <a:latin typeface="Times New Roman" panose="02020603050405020304" pitchFamily="18" charset="0"/>
                <a:cs typeface="Times New Roman" panose="02020603050405020304" pitchFamily="18" charset="0"/>
              </a:rPr>
              <a:t> </a:t>
            </a:r>
            <a:r>
              <a:rPr lang="en-IN" sz="2000" dirty="0">
                <a:solidFill>
                  <a:srgbClr val="000000"/>
                </a:solidFill>
                <a:latin typeface="Times New Roman" panose="02020603050405020304" pitchFamily="18" charset="0"/>
                <a:cs typeface="Times New Roman" panose="02020603050405020304" pitchFamily="18" charset="0"/>
              </a:rPr>
              <a:t>Creating meaningful features such as </a:t>
            </a:r>
            <a:r>
              <a:rPr lang="en-IN" sz="2000" b="1" dirty="0" err="1">
                <a:solidFill>
                  <a:srgbClr val="000000"/>
                </a:solidFill>
                <a:latin typeface="Times New Roman" panose="02020603050405020304" pitchFamily="18" charset="0"/>
                <a:cs typeface="Times New Roman" panose="02020603050405020304" pitchFamily="18" charset="0"/>
              </a:rPr>
              <a:t>Peak_Hour</a:t>
            </a:r>
            <a:r>
              <a:rPr lang="en-IN" sz="2000" dirty="0">
                <a:solidFill>
                  <a:srgbClr val="000000"/>
                </a:solidFill>
                <a:latin typeface="Times New Roman" panose="02020603050405020304" pitchFamily="18" charset="0"/>
                <a:cs typeface="Times New Roman" panose="02020603050405020304" pitchFamily="18" charset="0"/>
              </a:rPr>
              <a:t> and </a:t>
            </a:r>
            <a:r>
              <a:rPr lang="en-IN" sz="2000" b="1" dirty="0" err="1">
                <a:solidFill>
                  <a:srgbClr val="000000"/>
                </a:solidFill>
                <a:latin typeface="Times New Roman" panose="02020603050405020304" pitchFamily="18" charset="0"/>
                <a:cs typeface="Times New Roman" panose="02020603050405020304" pitchFamily="18" charset="0"/>
              </a:rPr>
              <a:t>Delivery_Load</a:t>
            </a:r>
            <a:r>
              <a:rPr lang="en-IN" sz="2000" dirty="0">
                <a:solidFill>
                  <a:srgbClr val="000000"/>
                </a:solidFill>
                <a:latin typeface="Times New Roman" panose="02020603050405020304" pitchFamily="18" charset="0"/>
                <a:cs typeface="Times New Roman" panose="02020603050405020304" pitchFamily="18" charset="0"/>
              </a:rPr>
              <a:t> to improve prediction accuracy. </a:t>
            </a:r>
          </a:p>
          <a:p>
            <a:pPr marL="114300" indent="0">
              <a:buNone/>
            </a:pPr>
            <a:r>
              <a:rPr lang="en-IN" sz="2000" b="1" u="sng" dirty="0">
                <a:solidFill>
                  <a:srgbClr val="000000"/>
                </a:solidFill>
                <a:latin typeface="Times New Roman" panose="02020603050405020304" pitchFamily="18" charset="0"/>
                <a:cs typeface="Times New Roman" panose="02020603050405020304" pitchFamily="18" charset="0"/>
              </a:rPr>
              <a:t>Categorical Data Encoding:</a:t>
            </a:r>
            <a:r>
              <a:rPr lang="en-IN" sz="2000" u="sng" dirty="0">
                <a:solidFill>
                  <a:srgbClr val="000000"/>
                </a:solidFill>
                <a:latin typeface="Times New Roman" panose="02020603050405020304" pitchFamily="18" charset="0"/>
                <a:cs typeface="Times New Roman" panose="02020603050405020304" pitchFamily="18" charset="0"/>
              </a:rPr>
              <a:t> </a:t>
            </a:r>
            <a:r>
              <a:rPr lang="en-IN" sz="2000" dirty="0">
                <a:solidFill>
                  <a:srgbClr val="000000"/>
                </a:solidFill>
                <a:latin typeface="Times New Roman" panose="02020603050405020304" pitchFamily="18" charset="0"/>
                <a:cs typeface="Times New Roman" panose="02020603050405020304" pitchFamily="18" charset="0"/>
              </a:rPr>
              <a:t>Converting multiple categorical variables into machine-readable format using appropriate encoding techniques. </a:t>
            </a:r>
          </a:p>
          <a:p>
            <a:pPr marL="114300" indent="0">
              <a:buNone/>
            </a:pPr>
            <a:r>
              <a:rPr lang="en-IN" sz="2000" b="1" u="sng" dirty="0">
                <a:solidFill>
                  <a:srgbClr val="000000"/>
                </a:solidFill>
                <a:latin typeface="Times New Roman" panose="02020603050405020304" pitchFamily="18" charset="0"/>
                <a:cs typeface="Times New Roman" panose="02020603050405020304" pitchFamily="18" charset="0"/>
              </a:rPr>
              <a:t>Model Selection &amp; Optimization:</a:t>
            </a:r>
            <a:r>
              <a:rPr lang="en-IN" sz="2000" u="sng" dirty="0">
                <a:solidFill>
                  <a:srgbClr val="000000"/>
                </a:solidFill>
                <a:latin typeface="Times New Roman" panose="02020603050405020304" pitchFamily="18" charset="0"/>
                <a:cs typeface="Times New Roman" panose="02020603050405020304" pitchFamily="18" charset="0"/>
              </a:rPr>
              <a:t> </a:t>
            </a:r>
            <a:r>
              <a:rPr lang="en-IN" sz="2000" dirty="0">
                <a:solidFill>
                  <a:srgbClr val="000000"/>
                </a:solidFill>
                <a:latin typeface="Times New Roman" panose="02020603050405020304" pitchFamily="18" charset="0"/>
                <a:cs typeface="Times New Roman" panose="02020603050405020304" pitchFamily="18" charset="0"/>
              </a:rPr>
              <a:t>Comparing multiple regression models and selecting the best one using evaluation metrics, cross-validation, and hyperparameter tuning. </a:t>
            </a:r>
          </a:p>
          <a:p>
            <a:pPr marL="114300" indent="0">
              <a:buNone/>
            </a:pPr>
            <a:r>
              <a:rPr lang="en-IN" sz="2000" b="1" u="sng" dirty="0">
                <a:solidFill>
                  <a:srgbClr val="000000"/>
                </a:solidFill>
                <a:latin typeface="Times New Roman" panose="02020603050405020304" pitchFamily="18" charset="0"/>
                <a:cs typeface="Times New Roman" panose="02020603050405020304" pitchFamily="18" charset="0"/>
              </a:rPr>
              <a:t>Model Deployment:</a:t>
            </a:r>
            <a:r>
              <a:rPr lang="en-IN" sz="2000" u="sng" dirty="0">
                <a:solidFill>
                  <a:srgbClr val="000000"/>
                </a:solidFill>
                <a:latin typeface="Times New Roman" panose="02020603050405020304" pitchFamily="18" charset="0"/>
                <a:cs typeface="Times New Roman" panose="02020603050405020304" pitchFamily="18" charset="0"/>
              </a:rPr>
              <a:t> </a:t>
            </a:r>
            <a:r>
              <a:rPr lang="en-IN" sz="2000" dirty="0">
                <a:solidFill>
                  <a:srgbClr val="000000"/>
                </a:solidFill>
                <a:latin typeface="Times New Roman" panose="02020603050405020304" pitchFamily="18" charset="0"/>
                <a:cs typeface="Times New Roman" panose="02020603050405020304" pitchFamily="18" charset="0"/>
              </a:rPr>
              <a:t>Integrating the trained pipeline into a </a:t>
            </a:r>
            <a:r>
              <a:rPr lang="en-IN" sz="2000" dirty="0" err="1">
                <a:solidFill>
                  <a:srgbClr val="000000"/>
                </a:solidFill>
                <a:latin typeface="Times New Roman" panose="02020603050405020304" pitchFamily="18" charset="0"/>
                <a:cs typeface="Times New Roman" panose="02020603050405020304" pitchFamily="18" charset="0"/>
              </a:rPr>
              <a:t>Streamlit</a:t>
            </a:r>
            <a:r>
              <a:rPr lang="en-IN" sz="2000" dirty="0">
                <a:solidFill>
                  <a:srgbClr val="000000"/>
                </a:solidFill>
                <a:latin typeface="Times New Roman" panose="02020603050405020304" pitchFamily="18" charset="0"/>
                <a:cs typeface="Times New Roman" panose="02020603050405020304" pitchFamily="18" charset="0"/>
              </a:rPr>
              <a:t> application for real-time delivery time prediction.</a:t>
            </a: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6A52A15-1CD4-D936-7172-05B9ABB2ACDB}"/>
              </a:ext>
            </a:extLst>
          </p:cNvPr>
          <p:cNvPicPr>
            <a:picLocks noChangeAspect="1"/>
          </p:cNvPicPr>
          <p:nvPr/>
        </p:nvPicPr>
        <p:blipFill>
          <a:blip r:embed="rId3"/>
          <a:stretch>
            <a:fillRect/>
          </a:stretch>
        </p:blipFill>
        <p:spPr>
          <a:xfrm>
            <a:off x="-188042" y="119467"/>
            <a:ext cx="1748589" cy="894735"/>
          </a:xfrm>
          <a:prstGeom prst="rect">
            <a:avLst/>
          </a:prstGeom>
        </p:spPr>
      </p:pic>
    </p:spTree>
    <p:extLst>
      <p:ext uri="{BB962C8B-B14F-4D97-AF65-F5344CB8AC3E}">
        <p14:creationId xmlns:p14="http://schemas.microsoft.com/office/powerpoint/2010/main" val="34455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3">
          <a:extLst>
            <a:ext uri="{FF2B5EF4-FFF2-40B4-BE49-F238E27FC236}">
              <a16:creationId xmlns:a16="http://schemas.microsoft.com/office/drawing/2014/main" id="{F2FBC3AD-C55D-2AA4-CB15-8802C2144AB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3471723-07BC-DC58-4C20-276AFE47C9CC}"/>
              </a:ext>
            </a:extLst>
          </p:cNvPr>
          <p:cNvSpPr>
            <a:spLocks noGrp="1"/>
          </p:cNvSpPr>
          <p:nvPr>
            <p:ph type="title"/>
          </p:nvPr>
        </p:nvSpPr>
        <p:spPr>
          <a:xfrm>
            <a:off x="838200" y="119467"/>
            <a:ext cx="10515600" cy="699400"/>
          </a:xfrm>
        </p:spPr>
        <p:txBody>
          <a:bodyPr/>
          <a:lstStyle/>
          <a:p>
            <a:pPr algn="ctr"/>
            <a:r>
              <a:rPr lang="en-US" b="1" u="sng" dirty="0">
                <a:solidFill>
                  <a:srgbClr val="FF0000"/>
                </a:solidFill>
                <a:latin typeface="Times New Roman" panose="02020603050405020304" pitchFamily="18" charset="0"/>
                <a:cs typeface="Times New Roman" panose="02020603050405020304" pitchFamily="18" charset="0"/>
              </a:rPr>
              <a:t>Future Scope</a:t>
            </a:r>
          </a:p>
        </p:txBody>
      </p:sp>
      <p:sp>
        <p:nvSpPr>
          <p:cNvPr id="5" name="Text Placeholder 4">
            <a:extLst>
              <a:ext uri="{FF2B5EF4-FFF2-40B4-BE49-F238E27FC236}">
                <a16:creationId xmlns:a16="http://schemas.microsoft.com/office/drawing/2014/main" id="{6E527220-472A-B007-8154-BD6C3E8AC5EF}"/>
              </a:ext>
            </a:extLst>
          </p:cNvPr>
          <p:cNvSpPr>
            <a:spLocks noGrp="1"/>
          </p:cNvSpPr>
          <p:nvPr>
            <p:ph type="body" idx="1"/>
          </p:nvPr>
        </p:nvSpPr>
        <p:spPr>
          <a:xfrm>
            <a:off x="592853" y="1927598"/>
            <a:ext cx="11193126" cy="4091366"/>
          </a:xfrm>
        </p:spPr>
        <p:txBody>
          <a:bodyPr>
            <a:normAutofit/>
          </a:bodyPr>
          <a:lstStyle/>
          <a:p>
            <a:pPr marL="114300" indent="0">
              <a:buNone/>
            </a:pPr>
            <a:r>
              <a:rPr lang="en-IN" sz="2200" b="1" u="sng" dirty="0">
                <a:solidFill>
                  <a:srgbClr val="000000"/>
                </a:solidFill>
                <a:latin typeface="Times New Roman" panose="02020603050405020304" pitchFamily="18" charset="0"/>
                <a:cs typeface="Times New Roman" panose="02020603050405020304" pitchFamily="18" charset="0"/>
              </a:rPr>
              <a:t>Live Traffic Integration:</a:t>
            </a:r>
            <a:r>
              <a:rPr lang="en-IN" sz="2200" u="sng" dirty="0">
                <a:solidFill>
                  <a:srgbClr val="000000"/>
                </a:solidFill>
                <a:latin typeface="Times New Roman" panose="02020603050405020304" pitchFamily="18" charset="0"/>
                <a:cs typeface="Times New Roman" panose="02020603050405020304" pitchFamily="18" charset="0"/>
              </a:rPr>
              <a:t> </a:t>
            </a:r>
            <a:r>
              <a:rPr lang="en-IN" sz="2200" dirty="0">
                <a:solidFill>
                  <a:srgbClr val="000000"/>
                </a:solidFill>
                <a:latin typeface="Times New Roman" panose="02020603050405020304" pitchFamily="18" charset="0"/>
                <a:cs typeface="Times New Roman" panose="02020603050405020304" pitchFamily="18" charset="0"/>
              </a:rPr>
              <a:t>Use real-time traffic data to improve ETA prediction accuracy. </a:t>
            </a:r>
          </a:p>
          <a:p>
            <a:pPr marL="114300" indent="0">
              <a:buNone/>
            </a:pPr>
            <a:r>
              <a:rPr lang="en-IN" sz="2200" b="1" u="sng" dirty="0">
                <a:solidFill>
                  <a:srgbClr val="000000"/>
                </a:solidFill>
                <a:latin typeface="Times New Roman" panose="02020603050405020304" pitchFamily="18" charset="0"/>
                <a:cs typeface="Times New Roman" panose="02020603050405020304" pitchFamily="18" charset="0"/>
              </a:rPr>
              <a:t>Weather API Integration:</a:t>
            </a:r>
            <a:r>
              <a:rPr lang="en-IN" sz="2200" u="sng" dirty="0">
                <a:solidFill>
                  <a:srgbClr val="000000"/>
                </a:solidFill>
                <a:latin typeface="Times New Roman" panose="02020603050405020304" pitchFamily="18" charset="0"/>
                <a:cs typeface="Times New Roman" panose="02020603050405020304" pitchFamily="18" charset="0"/>
              </a:rPr>
              <a:t> </a:t>
            </a:r>
            <a:r>
              <a:rPr lang="en-IN" sz="2200" dirty="0">
                <a:solidFill>
                  <a:srgbClr val="000000"/>
                </a:solidFill>
                <a:latin typeface="Times New Roman" panose="02020603050405020304" pitchFamily="18" charset="0"/>
                <a:cs typeface="Times New Roman" panose="02020603050405020304" pitchFamily="18" charset="0"/>
              </a:rPr>
              <a:t>Incorporate live weather information for more reliable delivery estimates. </a:t>
            </a:r>
          </a:p>
          <a:p>
            <a:pPr marL="114300" indent="0">
              <a:buNone/>
            </a:pPr>
            <a:r>
              <a:rPr lang="en-IN" sz="2200" b="1" u="sng" dirty="0">
                <a:solidFill>
                  <a:srgbClr val="000000"/>
                </a:solidFill>
                <a:latin typeface="Times New Roman" panose="02020603050405020304" pitchFamily="18" charset="0"/>
                <a:cs typeface="Times New Roman" panose="02020603050405020304" pitchFamily="18" charset="0"/>
              </a:rPr>
              <a:t>Google Maps API:</a:t>
            </a:r>
            <a:r>
              <a:rPr lang="en-IN" sz="2200" u="sng" dirty="0">
                <a:solidFill>
                  <a:srgbClr val="000000"/>
                </a:solidFill>
                <a:latin typeface="Times New Roman" panose="02020603050405020304" pitchFamily="18" charset="0"/>
                <a:cs typeface="Times New Roman" panose="02020603050405020304" pitchFamily="18" charset="0"/>
              </a:rPr>
              <a:t> </a:t>
            </a:r>
            <a:r>
              <a:rPr lang="en-IN" sz="2200" dirty="0">
                <a:solidFill>
                  <a:srgbClr val="000000"/>
                </a:solidFill>
                <a:latin typeface="Times New Roman" panose="02020603050405020304" pitchFamily="18" charset="0"/>
                <a:cs typeface="Times New Roman" panose="02020603050405020304" pitchFamily="18" charset="0"/>
              </a:rPr>
              <a:t>Utilize actual route distance and travel time instead of calculated distance. </a:t>
            </a:r>
          </a:p>
          <a:p>
            <a:pPr marL="114300" indent="0">
              <a:buNone/>
            </a:pPr>
            <a:r>
              <a:rPr lang="en-IN" sz="2200" b="1" u="sng" dirty="0">
                <a:solidFill>
                  <a:srgbClr val="000000"/>
                </a:solidFill>
                <a:latin typeface="Times New Roman" panose="02020603050405020304" pitchFamily="18" charset="0"/>
                <a:cs typeface="Times New Roman" panose="02020603050405020304" pitchFamily="18" charset="0"/>
              </a:rPr>
              <a:t>Mobile Application:</a:t>
            </a:r>
            <a:r>
              <a:rPr lang="en-IN" sz="2200" u="sng" dirty="0">
                <a:solidFill>
                  <a:srgbClr val="000000"/>
                </a:solidFill>
                <a:latin typeface="Times New Roman" panose="02020603050405020304" pitchFamily="18" charset="0"/>
                <a:cs typeface="Times New Roman" panose="02020603050405020304" pitchFamily="18" charset="0"/>
              </a:rPr>
              <a:t> </a:t>
            </a:r>
            <a:r>
              <a:rPr lang="en-IN" sz="2200" dirty="0">
                <a:solidFill>
                  <a:srgbClr val="000000"/>
                </a:solidFill>
                <a:latin typeface="Times New Roman" panose="02020603050405020304" pitchFamily="18" charset="0"/>
                <a:cs typeface="Times New Roman" panose="02020603050405020304" pitchFamily="18" charset="0"/>
              </a:rPr>
              <a:t>Develop an Android/iOS application for real-time delivery time prediction. </a:t>
            </a:r>
          </a:p>
          <a:p>
            <a:pPr marL="114300" indent="0">
              <a:buNone/>
            </a:pPr>
            <a:r>
              <a:rPr lang="en-IN" sz="2200" b="1" u="sng" dirty="0">
                <a:solidFill>
                  <a:srgbClr val="000000"/>
                </a:solidFill>
                <a:latin typeface="Times New Roman" panose="02020603050405020304" pitchFamily="18" charset="0"/>
                <a:cs typeface="Times New Roman" panose="02020603050405020304" pitchFamily="18" charset="0"/>
              </a:rPr>
              <a:t>Cloud Deployment:</a:t>
            </a:r>
            <a:r>
              <a:rPr lang="en-IN" sz="2200" u="sng" dirty="0">
                <a:solidFill>
                  <a:srgbClr val="000000"/>
                </a:solidFill>
                <a:latin typeface="Times New Roman" panose="02020603050405020304" pitchFamily="18" charset="0"/>
                <a:cs typeface="Times New Roman" panose="02020603050405020304" pitchFamily="18" charset="0"/>
              </a:rPr>
              <a:t> </a:t>
            </a:r>
            <a:r>
              <a:rPr lang="en-IN" sz="2200" dirty="0">
                <a:solidFill>
                  <a:srgbClr val="000000"/>
                </a:solidFill>
                <a:latin typeface="Times New Roman" panose="02020603050405020304" pitchFamily="18" charset="0"/>
                <a:cs typeface="Times New Roman" panose="02020603050405020304" pitchFamily="18" charset="0"/>
              </a:rPr>
              <a:t>Deploy the application on cloud platforms (AWS, Azure, or Google Cloud) for scalability and public access.</a:t>
            </a:r>
            <a:endParaRPr lang="en-US" sz="22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0C97AC6-42C1-1142-DEC9-101E0D64D1A3}"/>
              </a:ext>
            </a:extLst>
          </p:cNvPr>
          <p:cNvPicPr>
            <a:picLocks noChangeAspect="1"/>
          </p:cNvPicPr>
          <p:nvPr/>
        </p:nvPicPr>
        <p:blipFill>
          <a:blip r:embed="rId3"/>
          <a:stretch>
            <a:fillRect/>
          </a:stretch>
        </p:blipFill>
        <p:spPr>
          <a:xfrm>
            <a:off x="-188043" y="119467"/>
            <a:ext cx="1748589" cy="894735"/>
          </a:xfrm>
          <a:prstGeom prst="rect">
            <a:avLst/>
          </a:prstGeom>
        </p:spPr>
      </p:pic>
    </p:spTree>
    <p:extLst>
      <p:ext uri="{BB962C8B-B14F-4D97-AF65-F5344CB8AC3E}">
        <p14:creationId xmlns:p14="http://schemas.microsoft.com/office/powerpoint/2010/main" val="2234298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a:solidFill>
                  <a:srgbClr val="FF0000"/>
                </a:solidFill>
                <a:latin typeface="Times New Roman" panose="02020603050405020304" pitchFamily="18" charset="0"/>
                <a:cs typeface="Times New Roman" panose="02020603050405020304" pitchFamily="18" charset="0"/>
              </a:rPr>
              <a:t>Conclusion</a:t>
            </a:r>
          </a:p>
        </p:txBody>
      </p:sp>
      <p:sp>
        <p:nvSpPr>
          <p:cNvPr id="3" name="Text Placeholder 2"/>
          <p:cNvSpPr>
            <a:spLocks noGrp="1"/>
          </p:cNvSpPr>
          <p:nvPr>
            <p:ph type="body" idx="1"/>
          </p:nvPr>
        </p:nvSpPr>
        <p:spPr>
          <a:xfrm>
            <a:off x="239151" y="1825625"/>
            <a:ext cx="11774658" cy="4351338"/>
          </a:xfrm>
        </p:spPr>
        <p:txBody>
          <a:bodyPr>
            <a:normAutofit/>
          </a:bodyPr>
          <a:lstStyle/>
          <a:p>
            <a:r>
              <a:rPr lang="en-IN" sz="2400" dirty="0">
                <a:solidFill>
                  <a:srgbClr val="000000"/>
                </a:solidFill>
                <a:latin typeface="Times New Roman" panose="02020603050405020304" pitchFamily="18" charset="0"/>
                <a:cs typeface="Times New Roman" panose="02020603050405020304" pitchFamily="18" charset="0"/>
              </a:rPr>
              <a:t>Successfully developed an end-to-end Machine Learning model to predict Swiggy food delivery time.</a:t>
            </a:r>
          </a:p>
          <a:p>
            <a:r>
              <a:rPr lang="en-IN" sz="2400" dirty="0">
                <a:solidFill>
                  <a:srgbClr val="000000"/>
                </a:solidFill>
                <a:latin typeface="Times New Roman" panose="02020603050405020304" pitchFamily="18" charset="0"/>
                <a:cs typeface="Times New Roman" panose="02020603050405020304" pitchFamily="18" charset="0"/>
              </a:rPr>
              <a:t>Performed data preprocessing, feature engineering, feature selection, and hyperparameter tuning to improve model performance.</a:t>
            </a:r>
          </a:p>
          <a:p>
            <a:r>
              <a:rPr lang="en-IN" sz="2400" dirty="0">
                <a:solidFill>
                  <a:srgbClr val="000000"/>
                </a:solidFill>
                <a:latin typeface="Times New Roman" panose="02020603050405020304" pitchFamily="18" charset="0"/>
                <a:cs typeface="Times New Roman" panose="02020603050405020304" pitchFamily="18" charset="0"/>
              </a:rPr>
              <a:t>Compared multiple regression models, with </a:t>
            </a:r>
            <a:r>
              <a:rPr lang="en-IN" sz="2400" dirty="0" err="1">
                <a:solidFill>
                  <a:srgbClr val="000000"/>
                </a:solidFill>
                <a:latin typeface="Times New Roman" panose="02020603050405020304" pitchFamily="18" charset="0"/>
                <a:cs typeface="Times New Roman" panose="02020603050405020304" pitchFamily="18" charset="0"/>
              </a:rPr>
              <a:t>XGBoost</a:t>
            </a:r>
            <a:r>
              <a:rPr lang="en-IN" sz="2400" dirty="0">
                <a:solidFill>
                  <a:srgbClr val="000000"/>
                </a:solidFill>
                <a:latin typeface="Times New Roman" panose="02020603050405020304" pitchFamily="18" charset="0"/>
                <a:cs typeface="Times New Roman" panose="02020603050405020304" pitchFamily="18" charset="0"/>
              </a:rPr>
              <a:t> achieving the best prediction accuracy.</a:t>
            </a:r>
          </a:p>
          <a:p>
            <a:r>
              <a:rPr lang="en-IN" sz="2400" dirty="0">
                <a:solidFill>
                  <a:srgbClr val="000000"/>
                </a:solidFill>
                <a:latin typeface="Times New Roman" panose="02020603050405020304" pitchFamily="18" charset="0"/>
                <a:cs typeface="Times New Roman" panose="02020603050405020304" pitchFamily="18" charset="0"/>
              </a:rPr>
              <a:t>Deployed the final trained pipeline using </a:t>
            </a:r>
            <a:r>
              <a:rPr lang="en-IN" sz="2400" dirty="0" err="1">
                <a:solidFill>
                  <a:srgbClr val="000000"/>
                </a:solidFill>
                <a:latin typeface="Times New Roman" panose="02020603050405020304" pitchFamily="18" charset="0"/>
                <a:cs typeface="Times New Roman" panose="02020603050405020304" pitchFamily="18" charset="0"/>
              </a:rPr>
              <a:t>Streamlit</a:t>
            </a:r>
            <a:r>
              <a:rPr lang="en-IN" sz="2400" dirty="0">
                <a:solidFill>
                  <a:srgbClr val="000000"/>
                </a:solidFill>
                <a:latin typeface="Times New Roman" panose="02020603050405020304" pitchFamily="18" charset="0"/>
                <a:cs typeface="Times New Roman" panose="02020603050405020304" pitchFamily="18" charset="0"/>
              </a:rPr>
              <a:t> for real-time delivery time prediction.</a:t>
            </a:r>
          </a:p>
          <a:p>
            <a:r>
              <a:rPr lang="en-IN" sz="2400" dirty="0">
                <a:solidFill>
                  <a:srgbClr val="000000"/>
                </a:solidFill>
                <a:latin typeface="Times New Roman" panose="02020603050405020304" pitchFamily="18" charset="0"/>
                <a:cs typeface="Times New Roman" panose="02020603050405020304" pitchFamily="18" charset="0"/>
              </a:rPr>
              <a:t>The solution can help improve ETA accuracy, customer satisfaction, and delivery operations. </a:t>
            </a:r>
          </a:p>
        </p:txBody>
      </p:sp>
      <p:pic>
        <p:nvPicPr>
          <p:cNvPr id="5" name="Picture 4">
            <a:extLst>
              <a:ext uri="{FF2B5EF4-FFF2-40B4-BE49-F238E27FC236}">
                <a16:creationId xmlns:a16="http://schemas.microsoft.com/office/drawing/2014/main" id="{F3B1B7BF-2316-1809-39BA-4ED4BC991926}"/>
              </a:ext>
            </a:extLst>
          </p:cNvPr>
          <p:cNvPicPr>
            <a:picLocks noChangeAspect="1"/>
          </p:cNvPicPr>
          <p:nvPr/>
        </p:nvPicPr>
        <p:blipFill>
          <a:blip r:embed="rId2"/>
          <a:stretch>
            <a:fillRect/>
          </a:stretch>
        </p:blipFill>
        <p:spPr>
          <a:xfrm>
            <a:off x="-256868" y="133171"/>
            <a:ext cx="1748589" cy="894735"/>
          </a:xfrm>
          <a:prstGeom prst="rect">
            <a:avLst/>
          </a:prstGeom>
        </p:spPr>
      </p:pic>
    </p:spTree>
    <p:extLst>
      <p:ext uri="{BB962C8B-B14F-4D97-AF65-F5344CB8AC3E}">
        <p14:creationId xmlns:p14="http://schemas.microsoft.com/office/powerpoint/2010/main" val="3314668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176801" y="3267907"/>
            <a:ext cx="4651233"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1" i="0" u="none" strike="noStrike" cap="none" dirty="0">
                <a:solidFill>
                  <a:srgbClr val="FF0000"/>
                </a:solidFill>
                <a:latin typeface="Times New Roman" panose="02020603050405020304" pitchFamily="18" charset="0"/>
                <a:ea typeface="Libre Baskerville"/>
                <a:cs typeface="Times New Roman" panose="02020603050405020304" pitchFamily="18" charset="0"/>
                <a:sym typeface="Libre Baskerville"/>
              </a:rPr>
              <a:t>THANK YOU</a:t>
            </a:r>
            <a:endParaRPr sz="1800" b="1"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2891</TotalTime>
  <Words>1424</Words>
  <Application>Microsoft Office PowerPoint</Application>
  <PresentationFormat>Widescreen</PresentationFormat>
  <Paragraphs>192</Paragraphs>
  <Slides>18</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Californian FB</vt:lpstr>
      <vt:lpstr>Arial</vt:lpstr>
      <vt:lpstr>Libre Baskerville</vt:lpstr>
      <vt:lpstr>Wingdings</vt:lpstr>
      <vt:lpstr>Calibri</vt:lpstr>
      <vt:lpstr>Times New Roman</vt:lpstr>
      <vt:lpstr>Office Theme</vt:lpstr>
      <vt:lpstr>PowerPoint Presentation</vt:lpstr>
      <vt:lpstr>Agenda</vt:lpstr>
      <vt:lpstr>Introduction</vt:lpstr>
      <vt:lpstr>Project Workflow – CRISP-ML(Q)</vt:lpstr>
      <vt:lpstr>Problem statement &amp; Objective</vt:lpstr>
      <vt:lpstr>Dataset Overview</vt:lpstr>
      <vt:lpstr>Data Cleaning &amp; Preprocessing</vt:lpstr>
      <vt:lpstr>Data Cleaning &amp; Pre-processing</vt:lpstr>
      <vt:lpstr>Data Cleaning &amp; Pre-processing</vt:lpstr>
      <vt:lpstr> Model Building </vt:lpstr>
      <vt:lpstr> Cross Validation </vt:lpstr>
      <vt:lpstr> Hyperparameter Tuning </vt:lpstr>
      <vt:lpstr>Final Pipeline of Model</vt:lpstr>
      <vt:lpstr>Streamlit Deployment</vt:lpstr>
      <vt:lpstr>Challenges Faced</vt:lpstr>
      <vt:lpstr>Future Scope</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mafaiz uddin</cp:lastModifiedBy>
  <cp:revision>159</cp:revision>
  <dcterms:created xsi:type="dcterms:W3CDTF">2021-02-16T05:19:01Z</dcterms:created>
  <dcterms:modified xsi:type="dcterms:W3CDTF">2026-07-21T11:31:22Z</dcterms:modified>
</cp:coreProperties>
</file>